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Proxima Nova"/>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1020EE-3946-40EC-A638-E42D87929FFF}">
  <a:tblStyle styleId="{8D1020EE-3946-40EC-A638-E42D87929FFF}"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roximaNova-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ProximaNova-italic.fntdata"/><Relationship Id="rId10" Type="http://schemas.openxmlformats.org/officeDocument/2006/relationships/slide" Target="slides/slide4.xml"/><Relationship Id="rId32" Type="http://schemas.openxmlformats.org/officeDocument/2006/relationships/font" Target="fonts/ProximaNova-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ProximaNova-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e744d13d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ce744d13d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Yu-Siang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DNS HTTPS, ECH, and DNSSEC are all relatively new and related web protocols. ECH allows for the encryption of TLS handshake that helps to prevent observers from seeing the domain name a client is connecting to, and DNSSEC is a series of cryptographic signature protocols that ensure better integrity and authenticity of DNS records. In addition, it’ could be advantageous to use DNSSEC in conjunction with HTTPS to authenticate records and prevent forgery, as well as to use it with ECH to authenticate handshake keys. Therefore, the main research problem in our paper is to answer what will be the larger environment for deploying DNS HTTPS records with ECH and DNSSEC in 2026.</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ce744d13d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ce744d13d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ce744d13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ce744d13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d1b480123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d1b480123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Richie </a:t>
            </a:r>
            <a:r>
              <a:rPr lang="en">
                <a:solidFill>
                  <a:schemeClr val="dk1"/>
                </a:solidFill>
              </a:rPr>
              <a:t>HTTPS secures communication between browsers and websites.</a:t>
            </a:r>
            <a:br>
              <a:rPr lang="en">
                <a:solidFill>
                  <a:schemeClr val="dk1"/>
                </a:solidFill>
              </a:rPr>
            </a:br>
            <a:r>
              <a:rPr lang="en">
                <a:solidFill>
                  <a:schemeClr val="dk1"/>
                </a:solidFill>
              </a:rPr>
              <a:t>It uses TLS encryption to protect data.</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TLS ensures the connection is private and trustworthy.</a:t>
            </a:r>
            <a:endParaRPr>
              <a:solidFill>
                <a:schemeClr val="dk1"/>
              </a:solidFill>
            </a:endParaRPr>
          </a:p>
          <a:p>
            <a:pPr indent="0" lvl="0" marL="0" rtl="0" algn="l">
              <a:spcBef>
                <a:spcPts val="0"/>
              </a:spcBef>
              <a:spcAft>
                <a:spcPts val="0"/>
              </a:spcAft>
              <a:buNone/>
            </a:pPr>
            <a:r>
              <a:rPr lang="en"/>
              <a:t>When you see the lock icon in your browser, HTTPS and TLS are working together to encrypt your connection and keep your data private.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54d383a0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54d383a0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Richie</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HTTPS DNS Parameters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SvcPriority: decides whether the record redirects a domain or provides service details.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ALPN: indicates supported web protocols.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IPv4/IPv6 hints: suggest server addresses.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Dynamic Config</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Uses variable values instead of fixed ones to allow flexible configuration.</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“HTTPS DNS records can include parameters that tell browsers how to connect to a service, such as which protocol to use or which IP addresses are available. Dynamic configuration means these settings can change automatically instead of being fixed.”</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cd1b480123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cd1b480123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Yu-Siang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Encrypted Client Hello, also known as ECH, hides the identity of the target TLS server by encrypting the Server Name Indication in the client Hello using the public key of the client-facing server, and the client-facing server can decrypt the ECH extension before forwarding the client Hello to the correct server. ECH also limits access to information that a particular user is visiting your website, obscuring them from intermediaries.</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c54d383a0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c54d383a0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Yu-Siang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DNSSEC is a specification suite designed to fortify DNS data with origin authentication, data integrity, and authenticated denial of existence, and it prevents DNS spoofing attacks by allowing authoritative name servers to digitally sign RRsets using public-key cryptography. In the DNSSEC process, a DNSSEC resolver is used to verify that the information originates from a legitimate server and that the data matches the information on authoritative DNS servers by checking signatures in the DNSSEC servers’ response.</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cd1b480123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cd1b480123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c55f2a2e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c55f2a2e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cd1b480123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cd1b480123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Yu-Siang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the results from the top 10000 domains. In the top table, you can see that about 2000 domains have HTTPS protocol, 497 of them have HTTPS and ECH, 430 of them have HTTPS and DNSSEC, and only 59 of them have all three of the protocols. The table below shows the amounts and percentages of HTTPS parameters and dynamic </a:t>
            </a:r>
            <a:r>
              <a:rPr lang="en"/>
              <a:t>configurations</a:t>
            </a:r>
            <a:r>
              <a:rPr lang="en"/>
              <a:t> in all domains and HTTPS domains specifically.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58264c86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58264c86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Richie (Remember, ECH_share is both HTTPS and ECH)</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e744d13d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ce744d13d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ce744d13d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ce744d13d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Richie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ce744d13d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ce744d13d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Yu-Siang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Besides DNSSEC, the ECH usage is also low in the results. The reason why ECH usage is low is that ECH requires coordinated support across DNS, TLS, and server infrastructure, so domains with less use cases are likely to disuse it to management load. Another factor is that Cloudflare encryption masks the domain in a TLS handshake, making content filtering and monitoring difficult, which affects things like firewalls, and Cloudflare turns on ECH by default for free plans, with the server-side ability to turn it on and off is exclusive to other plans. Additionally, prior studies that measures a higher number of domains usually have a higher amount of ECH domains. For example, ECH domains accounted for roughly 7.5% of TLS traffic in general, compared to the almost 5 % of HTTP and ECH domains in the top 10,000 domains in 2022.</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cec88e888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cec88e888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Yu-Siang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table shows that almost all domains with HTTPS records use Cloudflare name servers in a previous study, meaning that Cloudflare plays a dominant role in enabling HTTPS records and ECH deployment across the network.</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e744d13d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e744d13d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ce744d13d2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ce744d13d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ec88e888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ec88e888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d1b480123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cd1b480123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Richie with Alex </a:t>
            </a:r>
            <a:r>
              <a:rPr lang="en"/>
              <a:t>interjections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e744d13d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ce744d13d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c5600185a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c5600185ac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cd1b480123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cd1b480123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d1b480123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d1b480123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doi.org/10.48550/arxiv.2207.01841" TargetMode="External"/><Relationship Id="rId4" Type="http://schemas.openxmlformats.org/officeDocument/2006/relationships/hyperlink" Target="https://doi.org/10.1145/3570726"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Chain Link Security: Trends in Simultaneous HTTPS, ECH, and DNSSEC Use</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Alexander Rhoads</a:t>
            </a:r>
            <a:r>
              <a:rPr lang="en"/>
              <a:t>, Richard Ngeti,</a:t>
            </a:r>
            <a:r>
              <a:rPr lang="en"/>
              <a:t> Yu-Siang Chou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20"/>
              <a:t>Goals &amp; Motivation: Surveying Usage of HTTPS, ECH, and DNSSEC</a:t>
            </a:r>
            <a:endParaRPr sz="2220"/>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DNS HTTPS, ECH, and DNSSEC are relatively new and related web protocols.</a:t>
            </a:r>
            <a:endParaRPr/>
          </a:p>
          <a:p>
            <a:pPr indent="-317500" lvl="1" marL="914400" rtl="0" algn="l">
              <a:spcBef>
                <a:spcPts val="0"/>
              </a:spcBef>
              <a:spcAft>
                <a:spcPts val="0"/>
              </a:spcAft>
              <a:buSzPts val="1400"/>
              <a:buChar char="○"/>
            </a:pPr>
            <a:r>
              <a:rPr lang="en"/>
              <a:t>ECH allows for the encryption of TLS handshakes, DNSSEC is a series of cryptographic signature protocols that ensure better integrity and authenticity of DNS records.</a:t>
            </a:r>
            <a:br>
              <a:rPr lang="en"/>
            </a:br>
            <a:endParaRPr/>
          </a:p>
          <a:p>
            <a:pPr indent="-342900" lvl="0" marL="457200" rtl="0" algn="l">
              <a:spcBef>
                <a:spcPts val="0"/>
              </a:spcBef>
              <a:spcAft>
                <a:spcPts val="0"/>
              </a:spcAft>
              <a:buSzPts val="1800"/>
              <a:buChar char="●"/>
            </a:pPr>
            <a:r>
              <a:rPr lang="en"/>
              <a:t>It could be advantageous to use DNSSEC in conjunction with HTTPS to authenticate records and prevent forgery, as well as to use it with ECH to authenticate handshake keys. </a:t>
            </a:r>
            <a:br>
              <a:rPr lang="en"/>
            </a:br>
            <a:endParaRPr/>
          </a:p>
          <a:p>
            <a:pPr indent="-342900" lvl="0" marL="457200" rtl="0" algn="l">
              <a:spcBef>
                <a:spcPts val="0"/>
              </a:spcBef>
              <a:spcAft>
                <a:spcPts val="0"/>
              </a:spcAft>
              <a:buSzPts val="1800"/>
              <a:buChar char="●"/>
            </a:pPr>
            <a:r>
              <a:rPr lang="en"/>
              <a:t>What will be the larger environment for deploying DNS HTTPS records with ECH and DNSSEC in 2026?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 &amp; Motivation: The 10,000 Domain Case Study</a:t>
            </a:r>
            <a:endParaRPr/>
          </a:p>
          <a:p>
            <a:pPr indent="0" lvl="0" marL="0" rtl="0" algn="l">
              <a:spcBef>
                <a:spcPts val="0"/>
              </a:spcBef>
              <a:spcAft>
                <a:spcPts val="0"/>
              </a:spcAft>
              <a:buNone/>
            </a:pPr>
            <a:r>
              <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The previous studies of HTTPS that we draw from focus on very large data sets, where usually millions of domains are surveyed. </a:t>
            </a:r>
            <a:endParaRPr/>
          </a:p>
          <a:p>
            <a:pPr indent="-310832" lvl="1" marL="914400" rtl="0" algn="l">
              <a:spcBef>
                <a:spcPts val="0"/>
              </a:spcBef>
              <a:spcAft>
                <a:spcPts val="0"/>
              </a:spcAft>
              <a:buSzPct val="100000"/>
              <a:buChar char="○"/>
            </a:pPr>
            <a:r>
              <a:rPr lang="en"/>
              <a:t>For both time purposes and to approach the data from a different angle, we’ll be surveying the top 10,000 domains.</a:t>
            </a:r>
            <a:endParaRPr/>
          </a:p>
          <a:p>
            <a:pPr indent="-334327" lvl="0" marL="457200" rtl="0" algn="l">
              <a:spcBef>
                <a:spcPts val="0"/>
              </a:spcBef>
              <a:spcAft>
                <a:spcPts val="0"/>
              </a:spcAft>
              <a:buSzPct val="100000"/>
              <a:buChar char="●"/>
            </a:pPr>
            <a:r>
              <a:rPr lang="en"/>
              <a:t>Qualitatively and not just quantitatively, examining the top 10,000 domains is a different beast then examining the top 1,000,000. We cannot directly compare deployment values because of that.</a:t>
            </a:r>
            <a:endParaRPr/>
          </a:p>
          <a:p>
            <a:pPr indent="-334327" lvl="0" marL="457200" rtl="0" algn="l">
              <a:spcBef>
                <a:spcPts val="0"/>
              </a:spcBef>
              <a:spcAft>
                <a:spcPts val="0"/>
              </a:spcAft>
              <a:buSzPct val="100000"/>
              <a:buChar char="●"/>
            </a:pPr>
            <a:r>
              <a:rPr lang="en"/>
              <a:t>The infrastructure and purpose of a top 10 domain is different than that of the bottom 10 out of 10,000 domains.</a:t>
            </a:r>
            <a:endParaRPr/>
          </a:p>
          <a:p>
            <a:pPr indent="-310832" lvl="1" marL="914400" rtl="0" algn="l">
              <a:spcBef>
                <a:spcPts val="0"/>
              </a:spcBef>
              <a:spcAft>
                <a:spcPts val="0"/>
              </a:spcAft>
              <a:buSzPct val="100000"/>
              <a:buChar char="○"/>
            </a:pPr>
            <a:r>
              <a:rPr lang="en"/>
              <a:t>Extending that, the bottom 100 out of 10,000 domains is going to be different than the bottom 100 of 1,000,000 domains. Function, resources, and traffic affect the motivation behind security protocols.</a:t>
            </a:r>
            <a:endParaRPr/>
          </a:p>
          <a:p>
            <a:pPr indent="-334327" lvl="0" marL="457200" rtl="0" algn="l">
              <a:spcBef>
                <a:spcPts val="0"/>
              </a:spcBef>
              <a:spcAft>
                <a:spcPts val="0"/>
              </a:spcAft>
              <a:buSzPct val="100000"/>
              <a:buChar char="●"/>
            </a:pPr>
            <a:r>
              <a:rPr lang="en"/>
              <a:t>Think of this as a case study of HTTPS, ECH, DNSSEC usage over the thin top layer of the 10,000 most visited domains of 2025.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372400" cy="502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and Bottom 15 of 10,000 Domains</a:t>
            </a:r>
            <a:endParaRPr/>
          </a:p>
        </p:txBody>
      </p:sp>
      <p:pic>
        <p:nvPicPr>
          <p:cNvPr id="78" name="Google Shape;78;p16" title="Top15.png"/>
          <p:cNvPicPr preferRelativeResize="0"/>
          <p:nvPr/>
        </p:nvPicPr>
        <p:blipFill>
          <a:blip r:embed="rId3">
            <a:alphaModFix/>
          </a:blip>
          <a:stretch>
            <a:fillRect/>
          </a:stretch>
        </p:blipFill>
        <p:spPr>
          <a:xfrm>
            <a:off x="311700" y="1180225"/>
            <a:ext cx="3009575" cy="3388650"/>
          </a:xfrm>
          <a:prstGeom prst="rect">
            <a:avLst/>
          </a:prstGeom>
          <a:noFill/>
          <a:ln>
            <a:noFill/>
          </a:ln>
        </p:spPr>
      </p:pic>
      <p:pic>
        <p:nvPicPr>
          <p:cNvPr id="79" name="Google Shape;79;p16" title="Bottom15_Cen.png"/>
          <p:cNvPicPr preferRelativeResize="0"/>
          <p:nvPr/>
        </p:nvPicPr>
        <p:blipFill>
          <a:blip r:embed="rId4">
            <a:alphaModFix/>
          </a:blip>
          <a:stretch>
            <a:fillRect/>
          </a:stretch>
        </p:blipFill>
        <p:spPr>
          <a:xfrm>
            <a:off x="4571988" y="1151075"/>
            <a:ext cx="3496412" cy="3388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820"/>
              <a:t>Background: Hypertext Transfer Protocol Secure (HTTPS) &amp; Transport Layer Security (TLS)</a:t>
            </a:r>
            <a:endParaRPr sz="1820"/>
          </a:p>
        </p:txBody>
      </p:sp>
      <p:sp>
        <p:nvSpPr>
          <p:cNvPr id="85" name="Google Shape;8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sz="1900"/>
              <a:t>HTTPS is a layer security protocol used to send data between a web browser and website.</a:t>
            </a:r>
            <a:endParaRPr sz="1900"/>
          </a:p>
          <a:p>
            <a:pPr indent="0" lvl="0" marL="0" rtl="0" algn="l">
              <a:spcBef>
                <a:spcPts val="1200"/>
              </a:spcBef>
              <a:spcAft>
                <a:spcPts val="0"/>
              </a:spcAft>
              <a:buNone/>
            </a:pPr>
            <a:r>
              <a:t/>
            </a:r>
            <a:endParaRPr sz="1900"/>
          </a:p>
          <a:p>
            <a:pPr indent="-349250" lvl="0" marL="457200" rtl="0" algn="l">
              <a:spcBef>
                <a:spcPts val="1200"/>
              </a:spcBef>
              <a:spcAft>
                <a:spcPts val="0"/>
              </a:spcAft>
              <a:buSzPts val="1900"/>
              <a:buChar char="●"/>
            </a:pPr>
            <a:r>
              <a:rPr lang="en" sz="1900"/>
              <a:t>HTTPS uses TLS to p</a:t>
            </a:r>
            <a:r>
              <a:rPr lang="en" sz="1900"/>
              <a:t>rovide data confidentiality or authentication between the client and the server.</a:t>
            </a:r>
            <a:endParaRPr sz="1900"/>
          </a:p>
          <a:p>
            <a:pPr indent="0" lvl="0" marL="0" rtl="0" algn="l">
              <a:spcBef>
                <a:spcPts val="1200"/>
              </a:spcBef>
              <a:spcAft>
                <a:spcPts val="0"/>
              </a:spcAft>
              <a:buNone/>
            </a:pPr>
            <a:r>
              <a:t/>
            </a:r>
            <a:endParaRPr sz="1900"/>
          </a:p>
          <a:p>
            <a:pPr indent="-349250" lvl="0" marL="457200" rtl="0" algn="l">
              <a:spcBef>
                <a:spcPts val="1200"/>
              </a:spcBef>
              <a:spcAft>
                <a:spcPts val="0"/>
              </a:spcAft>
              <a:buSzPts val="1900"/>
              <a:buChar char="●"/>
            </a:pPr>
            <a:r>
              <a:rPr lang="en" sz="1900"/>
              <a:t>TLS is the cryptographic protocol that provides encryption and authentication for HTTPS.</a:t>
            </a:r>
            <a:endParaRPr sz="1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 HTTPS Parameters &amp; Dynamic Configs</a:t>
            </a:r>
            <a:endParaRPr/>
          </a:p>
        </p:txBody>
      </p:sp>
      <p:sp>
        <p:nvSpPr>
          <p:cNvPr id="91" name="Google Shape;91;p18"/>
          <p:cNvSpPr txBox="1"/>
          <p:nvPr>
            <p:ph idx="1" type="body"/>
          </p:nvPr>
        </p:nvSpPr>
        <p:spPr>
          <a:xfrm>
            <a:off x="311700" y="1152475"/>
            <a:ext cx="8520600" cy="3796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SvcPriority: The priority of the record relative to another record of the same name.</a:t>
            </a:r>
            <a:endParaRPr/>
          </a:p>
          <a:p>
            <a:pPr indent="-317500" lvl="1" marL="914400" rtl="0" algn="l">
              <a:spcBef>
                <a:spcPts val="0"/>
              </a:spcBef>
              <a:spcAft>
                <a:spcPts val="0"/>
              </a:spcAft>
              <a:buSzPts val="1400"/>
              <a:buChar char="○"/>
            </a:pPr>
            <a:r>
              <a:rPr lang="en"/>
              <a:t>0: AliasMode, which </a:t>
            </a:r>
            <a:r>
              <a:rPr lang="en"/>
              <a:t>aliases</a:t>
            </a:r>
            <a:r>
              <a:rPr lang="en"/>
              <a:t> a domain name to the target domain. </a:t>
            </a:r>
            <a:endParaRPr/>
          </a:p>
          <a:p>
            <a:pPr indent="-317500" lvl="1" marL="914400" rtl="0" algn="l">
              <a:spcBef>
                <a:spcPts val="0"/>
              </a:spcBef>
              <a:spcAft>
                <a:spcPts val="0"/>
              </a:spcAft>
              <a:buSzPts val="1400"/>
              <a:buChar char="○"/>
            </a:pPr>
            <a:r>
              <a:rPr lang="en"/>
              <a:t>Other values: ServiceMode, which provides information specific to a service endpoint</a:t>
            </a:r>
            <a:endParaRPr/>
          </a:p>
          <a:p>
            <a:pPr indent="-342900" lvl="0" marL="457200" rtl="0" algn="l">
              <a:spcBef>
                <a:spcPts val="0"/>
              </a:spcBef>
              <a:spcAft>
                <a:spcPts val="0"/>
              </a:spcAft>
              <a:buSzPts val="1800"/>
              <a:buChar char="●"/>
            </a:pPr>
            <a:r>
              <a:rPr lang="en"/>
              <a:t>SvcParams</a:t>
            </a:r>
            <a:endParaRPr/>
          </a:p>
          <a:p>
            <a:pPr indent="-317500" lvl="1" marL="914400" rtl="0" algn="l">
              <a:spcBef>
                <a:spcPts val="0"/>
              </a:spcBef>
              <a:spcAft>
                <a:spcPts val="0"/>
              </a:spcAft>
              <a:buSzPts val="1400"/>
              <a:buChar char="○"/>
            </a:pPr>
            <a:r>
              <a:rPr lang="en"/>
              <a:t>alpn (Application-Layer Protocol Negotiation): specifies additional application protocols.</a:t>
            </a:r>
            <a:endParaRPr/>
          </a:p>
          <a:p>
            <a:pPr indent="-317500" lvl="1" marL="914400" rtl="0" algn="l">
              <a:spcBef>
                <a:spcPts val="0"/>
              </a:spcBef>
              <a:spcAft>
                <a:spcPts val="0"/>
              </a:spcAft>
              <a:buSzPts val="1400"/>
              <a:buChar char="○"/>
            </a:pPr>
            <a:r>
              <a:rPr lang="en"/>
              <a:t>ipv4hint/ipv6hint: suggest IPv4/IPv6 addresses for reaching the endpoint.</a:t>
            </a:r>
            <a:endParaRPr/>
          </a:p>
          <a:p>
            <a:pPr indent="-342900" lvl="0" marL="457200" rtl="0" algn="l">
              <a:spcBef>
                <a:spcPts val="0"/>
              </a:spcBef>
              <a:spcAft>
                <a:spcPts val="0"/>
              </a:spcAft>
              <a:buSzPts val="1800"/>
              <a:buChar char="●"/>
            </a:pPr>
            <a:r>
              <a:rPr lang="en"/>
              <a:t>Dynamic Configurations</a:t>
            </a:r>
            <a:endParaRPr/>
          </a:p>
          <a:p>
            <a:pPr indent="-317500" lvl="1" marL="914400" rtl="0" algn="l">
              <a:spcBef>
                <a:spcPts val="0"/>
              </a:spcBef>
              <a:spcAft>
                <a:spcPts val="0"/>
              </a:spcAft>
              <a:buSzPts val="1400"/>
              <a:buChar char="○"/>
            </a:pPr>
            <a:r>
              <a:rPr lang="en"/>
              <a:t>Occurs when at least one parameter uses an expression instead of a fixed value</a:t>
            </a:r>
            <a:endParaRPr/>
          </a:p>
          <a:p>
            <a:pPr indent="-317500" lvl="1" marL="914400" rtl="0" algn="l">
              <a:spcBef>
                <a:spcPts val="0"/>
              </a:spcBef>
              <a:spcAft>
                <a:spcPts val="0"/>
              </a:spcAft>
              <a:buSzPts val="1400"/>
              <a:buChar char="○"/>
            </a:pPr>
            <a:r>
              <a:rPr lang="en"/>
              <a:t>&lt;ftp:config name="ftp" </a:t>
            </a:r>
            <a:r>
              <a:rPr b="1" lang="en"/>
              <a:t>defaultWriteEncoding="#[attributes.queryParams.encoding]</a:t>
            </a:r>
            <a:r>
              <a:rPr lang="en"/>
              <a:t>"&gt;,  &lt;ftp:connection username="foo" password="mySecret" /&gt;, &lt;/ftp:connection&gt;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Background: Encrypted Client Hello (ECH)</a:t>
            </a:r>
            <a:endParaRPr/>
          </a:p>
        </p:txBody>
      </p:sp>
      <p:sp>
        <p:nvSpPr>
          <p:cNvPr id="97" name="Google Shape;9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H</a:t>
            </a:r>
            <a:r>
              <a:rPr lang="en"/>
              <a:t>ides the identity of the target TLS server by encrypting the Server Name Indication (SNI) in the client Hello using the public key of the client-facing server.</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The client-facing server can decrypt the ECH extension before forwarding the client Hello to the correct server.</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Limits access to information that a particular user is visiting your website, obscuring them from intermediaries.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4594"/>
              <a:buFont typeface="Arial"/>
              <a:buNone/>
            </a:pPr>
            <a:r>
              <a:rPr lang="en" sz="2466"/>
              <a:t>Background: Domain Name System Security Extensions (DNSSEC)</a:t>
            </a:r>
            <a:endParaRPr sz="2466"/>
          </a:p>
          <a:p>
            <a:pPr indent="0" lvl="0" marL="0" rtl="0" algn="l">
              <a:spcBef>
                <a:spcPts val="0"/>
              </a:spcBef>
              <a:spcAft>
                <a:spcPts val="0"/>
              </a:spcAft>
              <a:buNone/>
            </a:pPr>
            <a:r>
              <a:t/>
            </a:r>
            <a:endParaRPr/>
          </a:p>
        </p:txBody>
      </p:sp>
      <p:sp>
        <p:nvSpPr>
          <p:cNvPr id="103" name="Google Shape;103;p20"/>
          <p:cNvSpPr txBox="1"/>
          <p:nvPr>
            <p:ph idx="1" type="body"/>
          </p:nvPr>
        </p:nvSpPr>
        <p:spPr>
          <a:xfrm>
            <a:off x="311700" y="1152475"/>
            <a:ext cx="8520600" cy="3749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a:t>
            </a:r>
            <a:r>
              <a:rPr lang="en"/>
              <a:t>pecification </a:t>
            </a:r>
            <a:r>
              <a:rPr lang="en"/>
              <a:t>suite</a:t>
            </a:r>
            <a:r>
              <a:rPr lang="en"/>
              <a:t> designed to fortify DNS data with origin authentication, data integrity, and authenticated denial of existence.</a:t>
            </a:r>
            <a:br>
              <a:rPr lang="en"/>
            </a:br>
            <a:endParaRPr/>
          </a:p>
          <a:p>
            <a:pPr indent="-342900" lvl="0" marL="457200" rtl="0" algn="l">
              <a:spcBef>
                <a:spcPts val="0"/>
              </a:spcBef>
              <a:spcAft>
                <a:spcPts val="0"/>
              </a:spcAft>
              <a:buSzPts val="1800"/>
              <a:buChar char="●"/>
            </a:pPr>
            <a:r>
              <a:rPr lang="en"/>
              <a:t>P</a:t>
            </a:r>
            <a:r>
              <a:rPr lang="en"/>
              <a:t>revents DNS spoofing attacks by allowing authoritative name servers to sign RRsets using public-key cryptography.</a:t>
            </a:r>
            <a:br>
              <a:rPr lang="en"/>
            </a:br>
            <a:endParaRPr/>
          </a:p>
          <a:p>
            <a:pPr indent="-342900" lvl="0" marL="457200" rtl="0" algn="l">
              <a:spcBef>
                <a:spcPts val="0"/>
              </a:spcBef>
              <a:spcAft>
                <a:spcPts val="0"/>
              </a:spcAft>
              <a:buSzPts val="1800"/>
              <a:buChar char="●"/>
            </a:pPr>
            <a:r>
              <a:rPr lang="en"/>
              <a:t>DNSSEC resolver verifies that information originates from a legitimate server, and that data matches the information on authoritative DNS servers, by checking signatures in the DNSSEC servers’ response.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Approach</a:t>
            </a:r>
            <a:endParaRPr/>
          </a:p>
        </p:txBody>
      </p:sp>
      <p:sp>
        <p:nvSpPr>
          <p:cNvPr id="109" name="Google Shape;10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We queried the top 10,000 pay-level (no sub-domains) domains from over the course of 2025, as well as for each month of that year, using a list provided by the site Tranco.</a:t>
            </a:r>
            <a:endParaRPr/>
          </a:p>
          <a:p>
            <a:pPr indent="-334327" lvl="0" marL="457200" rtl="0" algn="l">
              <a:spcBef>
                <a:spcPts val="0"/>
              </a:spcBef>
              <a:spcAft>
                <a:spcPts val="0"/>
              </a:spcAft>
              <a:buSzPct val="100000"/>
              <a:buChar char="●"/>
            </a:pPr>
            <a:r>
              <a:rPr lang="en"/>
              <a:t>We fetched information regarding the following Parameters:</a:t>
            </a:r>
            <a:endParaRPr/>
          </a:p>
          <a:p>
            <a:pPr indent="-310832" lvl="1" marL="914400" rtl="0" algn="l">
              <a:spcBef>
                <a:spcPts val="0"/>
              </a:spcBef>
              <a:spcAft>
                <a:spcPts val="0"/>
              </a:spcAft>
              <a:buSzPct val="100000"/>
              <a:buChar char="○"/>
            </a:pPr>
            <a:r>
              <a:rPr lang="en"/>
              <a:t>HTTPS RR (Does the domain use HTTPS)</a:t>
            </a:r>
            <a:endParaRPr/>
          </a:p>
          <a:p>
            <a:pPr indent="-310832" lvl="1" marL="914400" rtl="0" algn="l">
              <a:spcBef>
                <a:spcPts val="0"/>
              </a:spcBef>
              <a:spcAft>
                <a:spcPts val="0"/>
              </a:spcAft>
              <a:buSzPct val="100000"/>
              <a:buChar char="○"/>
            </a:pPr>
            <a:r>
              <a:rPr lang="en"/>
              <a:t>ECH Usage (Does the domain use HTTPS and ECH)</a:t>
            </a:r>
            <a:endParaRPr/>
          </a:p>
          <a:p>
            <a:pPr indent="-310832" lvl="1" marL="914400" rtl="0" algn="l">
              <a:spcBef>
                <a:spcPts val="0"/>
              </a:spcBef>
              <a:spcAft>
                <a:spcPts val="0"/>
              </a:spcAft>
              <a:buSzPct val="100000"/>
              <a:buChar char="○"/>
            </a:pPr>
            <a:r>
              <a:rPr lang="en"/>
              <a:t>DNSSEC Usage (Does the Domain use HTTPS and DNSSEC)</a:t>
            </a:r>
            <a:endParaRPr/>
          </a:p>
          <a:p>
            <a:pPr indent="-310832" lvl="1" marL="914400" rtl="0" algn="l">
              <a:spcBef>
                <a:spcPts val="0"/>
              </a:spcBef>
              <a:spcAft>
                <a:spcPts val="0"/>
              </a:spcAft>
              <a:buSzPct val="100000"/>
              <a:buChar char="○"/>
            </a:pPr>
            <a:r>
              <a:rPr lang="en"/>
              <a:t>SvcPriority Mode Used (Service or Alias Mode)</a:t>
            </a:r>
            <a:endParaRPr/>
          </a:p>
          <a:p>
            <a:pPr indent="-310832" lvl="1" marL="914400" rtl="0" algn="l">
              <a:spcBef>
                <a:spcPts val="0"/>
              </a:spcBef>
              <a:spcAft>
                <a:spcPts val="0"/>
              </a:spcAft>
              <a:buSzPct val="100000"/>
              <a:buChar char="○"/>
            </a:pPr>
            <a:r>
              <a:rPr lang="en"/>
              <a:t>ALPN Usage</a:t>
            </a:r>
            <a:endParaRPr/>
          </a:p>
          <a:p>
            <a:pPr indent="-310832" lvl="1" marL="914400" rtl="0" algn="l">
              <a:spcBef>
                <a:spcPts val="0"/>
              </a:spcBef>
              <a:spcAft>
                <a:spcPts val="0"/>
              </a:spcAft>
              <a:buSzPct val="100000"/>
              <a:buChar char="○"/>
            </a:pPr>
            <a:r>
              <a:rPr lang="en"/>
              <a:t>i</a:t>
            </a:r>
            <a:r>
              <a:rPr lang="en"/>
              <a:t>pv4hint  Usage</a:t>
            </a:r>
            <a:endParaRPr/>
          </a:p>
          <a:p>
            <a:pPr indent="-310832" lvl="1" marL="914400" rtl="0" algn="l">
              <a:spcBef>
                <a:spcPts val="0"/>
              </a:spcBef>
              <a:spcAft>
                <a:spcPts val="0"/>
              </a:spcAft>
              <a:buSzPct val="100000"/>
              <a:buChar char="○"/>
            </a:pPr>
            <a:r>
              <a:rPr lang="en"/>
              <a:t>Ipv6hint</a:t>
            </a:r>
            <a:r>
              <a:rPr lang="en"/>
              <a:t> Usage</a:t>
            </a:r>
            <a:endParaRPr/>
          </a:p>
          <a:p>
            <a:pPr indent="-310832" lvl="1" marL="914400" rtl="0" algn="l">
              <a:spcBef>
                <a:spcPts val="0"/>
              </a:spcBef>
              <a:spcAft>
                <a:spcPts val="0"/>
              </a:spcAft>
              <a:buSzPct val="100000"/>
              <a:buChar char="○"/>
            </a:pPr>
            <a:r>
              <a:rPr lang="en"/>
              <a:t>Dynamic Configuration Usage</a:t>
            </a:r>
            <a:endParaRPr/>
          </a:p>
          <a:p>
            <a:pPr indent="-334327" lvl="0" marL="457200" rtl="0" algn="l">
              <a:spcBef>
                <a:spcPts val="0"/>
              </a:spcBef>
              <a:spcAft>
                <a:spcPts val="0"/>
              </a:spcAft>
              <a:buSzPct val="100000"/>
              <a:buChar char="●"/>
            </a:pPr>
            <a:r>
              <a:rPr lang="en"/>
              <a:t>We extracted and calculated the data of each list, but we only had the resources to extract the information of the date of extraction.</a:t>
            </a:r>
            <a:endParaRPr/>
          </a:p>
          <a:p>
            <a:pPr indent="-310832" lvl="1" marL="914400" rtl="0" algn="l">
              <a:spcBef>
                <a:spcPts val="0"/>
              </a:spcBef>
              <a:spcAft>
                <a:spcPts val="0"/>
              </a:spcAft>
              <a:buSzPct val="100000"/>
              <a:buChar char="○"/>
            </a:pPr>
            <a:r>
              <a:rPr lang="en"/>
              <a:t>Finalized data extraction </a:t>
            </a:r>
            <a:r>
              <a:rPr lang="en"/>
              <a:t>occurred</a:t>
            </a:r>
            <a:r>
              <a:rPr lang="en"/>
              <a:t> on March 7th, 2026.</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Approach Continued</a:t>
            </a:r>
            <a:endParaRPr/>
          </a:p>
        </p:txBody>
      </p:sp>
      <p:sp>
        <p:nvSpPr>
          <p:cNvPr id="115" name="Google Shape;115;p22"/>
          <p:cNvSpPr txBox="1"/>
          <p:nvPr>
            <p:ph idx="1" type="body"/>
          </p:nvPr>
        </p:nvSpPr>
        <p:spPr>
          <a:xfrm>
            <a:off x="311700" y="1152475"/>
            <a:ext cx="8520600" cy="3416400"/>
          </a:xfrm>
          <a:prstGeom prst="rect">
            <a:avLst/>
          </a:prstGeom>
          <a:ln>
            <a:noFill/>
          </a:ln>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We queried each domain using the library DNSPython to ask them what their HTTPS Resource Record said.</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Additionally, we take that tally and calculate overall averages.</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For </a:t>
            </a:r>
            <a:r>
              <a:rPr lang="en"/>
              <a:t>qualitative</a:t>
            </a:r>
            <a:r>
              <a:rPr lang="en"/>
              <a:t> analysis, we took lists from the extracted domains, </a:t>
            </a:r>
            <a:r>
              <a:rPr lang="en"/>
              <a:t>organized</a:t>
            </a:r>
            <a:r>
              <a:rPr lang="en"/>
              <a:t> by their protocol or parameter use (HTTPS + ECH, HTTPS + DNSSEC, etc.).</a:t>
            </a:r>
            <a:endParaRPr/>
          </a:p>
          <a:p>
            <a:pPr indent="-317500" lvl="1" marL="914400" rtl="0" algn="l">
              <a:spcBef>
                <a:spcPts val="0"/>
              </a:spcBef>
              <a:spcAft>
                <a:spcPts val="0"/>
              </a:spcAft>
              <a:buSzPts val="1400"/>
              <a:buChar char="○"/>
            </a:pPr>
            <a:r>
              <a:rPr lang="en"/>
              <a:t>We then categorize them in two ways. </a:t>
            </a:r>
            <a:r>
              <a:rPr lang="en"/>
              <a:t>First is site category, the broad category that describes a site, like a news site. Second is desired content, which describe the main type of content a user would seek from this site, like articles.</a:t>
            </a:r>
            <a:endParaRPr>
              <a:highlight>
                <a:srgbClr val="FFFFFF"/>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Calculation Results</a:t>
            </a:r>
            <a:endParaRPr/>
          </a:p>
        </p:txBody>
      </p:sp>
      <p:graphicFrame>
        <p:nvGraphicFramePr>
          <p:cNvPr id="121" name="Google Shape;121;p23"/>
          <p:cNvGraphicFramePr/>
          <p:nvPr/>
        </p:nvGraphicFramePr>
        <p:xfrm>
          <a:off x="955975" y="2747375"/>
          <a:ext cx="3000000" cy="3000000"/>
        </p:xfrm>
        <a:graphic>
          <a:graphicData uri="http://schemas.openxmlformats.org/drawingml/2006/table">
            <a:tbl>
              <a:tblPr>
                <a:noFill/>
                <a:tableStyleId>{8D1020EE-3946-40EC-A638-E42D87929FFF}</a:tableStyleId>
              </a:tblPr>
              <a:tblGrid>
                <a:gridCol w="2042825"/>
                <a:gridCol w="986175"/>
                <a:gridCol w="1127075"/>
                <a:gridCol w="563525"/>
                <a:gridCol w="575275"/>
                <a:gridCol w="575275"/>
                <a:gridCol w="1361900"/>
              </a:tblGrid>
              <a:tr h="648575">
                <a:tc>
                  <a:txBody>
                    <a:bodyPr/>
                    <a:lstStyle/>
                    <a:p>
                      <a:pPr indent="0" lvl="0" marL="0" rtl="0" algn="l">
                        <a:spcBef>
                          <a:spcPts val="0"/>
                        </a:spcBef>
                        <a:spcAft>
                          <a:spcPts val="0"/>
                        </a:spcAft>
                        <a:buNone/>
                      </a:pPr>
                      <a:r>
                        <a:rPr lang="en" sz="1200"/>
                        <a:t>Domain/HTTPS params &amp; dynamic config</a:t>
                      </a:r>
                      <a:endParaRPr sz="1200"/>
                    </a:p>
                  </a:txBody>
                  <a:tcPr marT="63500" marB="63500" marR="63500" marL="63500"/>
                </a:tc>
                <a:tc>
                  <a:txBody>
                    <a:bodyPr/>
                    <a:lstStyle/>
                    <a:p>
                      <a:pPr indent="0" lvl="0" marL="0" rtl="0" algn="l">
                        <a:spcBef>
                          <a:spcPts val="0"/>
                        </a:spcBef>
                        <a:spcAft>
                          <a:spcPts val="0"/>
                        </a:spcAft>
                        <a:buNone/>
                      </a:pPr>
                      <a:r>
                        <a:rPr lang="en" sz="1200"/>
                        <a:t>Alias mode</a:t>
                      </a:r>
                      <a:endParaRPr sz="1200"/>
                    </a:p>
                  </a:txBody>
                  <a:tcPr marT="63500" marB="63500" marR="63500" marL="63500"/>
                </a:tc>
                <a:tc>
                  <a:txBody>
                    <a:bodyPr/>
                    <a:lstStyle/>
                    <a:p>
                      <a:pPr indent="0" lvl="0" marL="0" rtl="0" algn="l">
                        <a:spcBef>
                          <a:spcPts val="0"/>
                        </a:spcBef>
                        <a:spcAft>
                          <a:spcPts val="0"/>
                        </a:spcAft>
                        <a:buNone/>
                      </a:pPr>
                      <a:r>
                        <a:rPr lang="en" sz="1200"/>
                        <a:t>Service mode</a:t>
                      </a:r>
                      <a:endParaRPr sz="1200"/>
                    </a:p>
                  </a:txBody>
                  <a:tcPr marT="63500" marB="63500" marR="63500" marL="63500"/>
                </a:tc>
                <a:tc>
                  <a:txBody>
                    <a:bodyPr/>
                    <a:lstStyle/>
                    <a:p>
                      <a:pPr indent="0" lvl="0" marL="0" rtl="0" algn="l">
                        <a:spcBef>
                          <a:spcPts val="0"/>
                        </a:spcBef>
                        <a:spcAft>
                          <a:spcPts val="0"/>
                        </a:spcAft>
                        <a:buNone/>
                      </a:pPr>
                      <a:r>
                        <a:rPr lang="en" sz="1200"/>
                        <a:t>alpn</a:t>
                      </a:r>
                      <a:endParaRPr sz="1200"/>
                    </a:p>
                  </a:txBody>
                  <a:tcPr marT="63500" marB="63500" marR="63500" marL="63500"/>
                </a:tc>
                <a:tc>
                  <a:txBody>
                    <a:bodyPr/>
                    <a:lstStyle/>
                    <a:p>
                      <a:pPr indent="0" lvl="0" marL="0" rtl="0" algn="l">
                        <a:spcBef>
                          <a:spcPts val="0"/>
                        </a:spcBef>
                        <a:spcAft>
                          <a:spcPts val="0"/>
                        </a:spcAft>
                        <a:buNone/>
                      </a:pPr>
                      <a:r>
                        <a:rPr lang="en" sz="1200"/>
                        <a:t>ivp4</a:t>
                      </a:r>
                      <a:endParaRPr sz="1200"/>
                    </a:p>
                  </a:txBody>
                  <a:tcPr marT="63500" marB="63500" marR="63500" marL="63500"/>
                </a:tc>
                <a:tc>
                  <a:txBody>
                    <a:bodyPr/>
                    <a:lstStyle/>
                    <a:p>
                      <a:pPr indent="0" lvl="0" marL="0" rtl="0" algn="l">
                        <a:spcBef>
                          <a:spcPts val="0"/>
                        </a:spcBef>
                        <a:spcAft>
                          <a:spcPts val="0"/>
                        </a:spcAft>
                        <a:buNone/>
                      </a:pPr>
                      <a:r>
                        <a:rPr lang="en" sz="1200"/>
                        <a:t>ivp6</a:t>
                      </a:r>
                      <a:endParaRPr sz="1200"/>
                    </a:p>
                  </a:txBody>
                  <a:tcPr marT="63500" marB="63500" marR="63500" marL="63500"/>
                </a:tc>
                <a:tc>
                  <a:txBody>
                    <a:bodyPr/>
                    <a:lstStyle/>
                    <a:p>
                      <a:pPr indent="0" lvl="0" marL="0" rtl="0" algn="l">
                        <a:spcBef>
                          <a:spcPts val="0"/>
                        </a:spcBef>
                        <a:spcAft>
                          <a:spcPts val="0"/>
                        </a:spcAft>
                        <a:buNone/>
                      </a:pPr>
                      <a:r>
                        <a:rPr lang="en" sz="1200"/>
                        <a:t>Dynamic config</a:t>
                      </a:r>
                      <a:endParaRPr sz="1200"/>
                    </a:p>
                  </a:txBody>
                  <a:tcPr marT="63500" marB="63500" marR="63500" marL="63500"/>
                </a:tc>
              </a:tr>
              <a:tr h="442425">
                <a:tc>
                  <a:txBody>
                    <a:bodyPr/>
                    <a:lstStyle/>
                    <a:p>
                      <a:pPr indent="0" lvl="0" marL="0" rtl="0" algn="l">
                        <a:spcBef>
                          <a:spcPts val="0"/>
                        </a:spcBef>
                        <a:spcAft>
                          <a:spcPts val="0"/>
                        </a:spcAft>
                        <a:buNone/>
                      </a:pPr>
                      <a:r>
                        <a:rPr lang="en" sz="1200"/>
                        <a:t>Count</a:t>
                      </a:r>
                      <a:endParaRPr sz="1200"/>
                    </a:p>
                  </a:txBody>
                  <a:tcPr marT="63500" marB="63500" marR="63500" marL="63500"/>
                </a:tc>
                <a:tc>
                  <a:txBody>
                    <a:bodyPr/>
                    <a:lstStyle/>
                    <a:p>
                      <a:pPr indent="0" lvl="0" marL="0" rtl="0" algn="l">
                        <a:spcBef>
                          <a:spcPts val="0"/>
                        </a:spcBef>
                        <a:spcAft>
                          <a:spcPts val="0"/>
                        </a:spcAft>
                        <a:buNone/>
                      </a:pPr>
                      <a:r>
                        <a:rPr lang="en" sz="1200"/>
                        <a:t>3</a:t>
                      </a:r>
                      <a:endParaRPr sz="1200"/>
                    </a:p>
                  </a:txBody>
                  <a:tcPr marT="63500" marB="63500" marR="63500" marL="63500"/>
                </a:tc>
                <a:tc>
                  <a:txBody>
                    <a:bodyPr/>
                    <a:lstStyle/>
                    <a:p>
                      <a:pPr indent="0" lvl="0" marL="0" rtl="0" algn="l">
                        <a:spcBef>
                          <a:spcPts val="0"/>
                        </a:spcBef>
                        <a:spcAft>
                          <a:spcPts val="0"/>
                        </a:spcAft>
                        <a:buNone/>
                      </a:pPr>
                      <a:r>
                        <a:rPr lang="en" sz="1200"/>
                        <a:t>2041</a:t>
                      </a:r>
                      <a:endParaRPr sz="1200"/>
                    </a:p>
                  </a:txBody>
                  <a:tcPr marT="63500" marB="63500" marR="63500" marL="63500"/>
                </a:tc>
                <a:tc>
                  <a:txBody>
                    <a:bodyPr/>
                    <a:lstStyle/>
                    <a:p>
                      <a:pPr indent="0" lvl="0" marL="0" rtl="0" algn="l">
                        <a:spcBef>
                          <a:spcPts val="0"/>
                        </a:spcBef>
                        <a:spcAft>
                          <a:spcPts val="0"/>
                        </a:spcAft>
                        <a:buNone/>
                      </a:pPr>
                      <a:r>
                        <a:rPr lang="en" sz="1200"/>
                        <a:t>2029</a:t>
                      </a:r>
                      <a:endParaRPr sz="1200"/>
                    </a:p>
                  </a:txBody>
                  <a:tcPr marT="63500" marB="63500" marR="63500" marL="63500"/>
                </a:tc>
                <a:tc>
                  <a:txBody>
                    <a:bodyPr/>
                    <a:lstStyle/>
                    <a:p>
                      <a:pPr indent="0" lvl="0" marL="0" rtl="0" algn="l">
                        <a:spcBef>
                          <a:spcPts val="0"/>
                        </a:spcBef>
                        <a:spcAft>
                          <a:spcPts val="0"/>
                        </a:spcAft>
                        <a:buNone/>
                      </a:pPr>
                      <a:r>
                        <a:rPr lang="en" sz="1200"/>
                        <a:t>1977</a:t>
                      </a:r>
                      <a:endParaRPr sz="1200"/>
                    </a:p>
                  </a:txBody>
                  <a:tcPr marT="63500" marB="63500" marR="63500" marL="63500"/>
                </a:tc>
                <a:tc>
                  <a:txBody>
                    <a:bodyPr/>
                    <a:lstStyle/>
                    <a:p>
                      <a:pPr indent="0" lvl="0" marL="0" rtl="0" algn="l">
                        <a:spcBef>
                          <a:spcPts val="0"/>
                        </a:spcBef>
                        <a:spcAft>
                          <a:spcPts val="0"/>
                        </a:spcAft>
                        <a:buNone/>
                      </a:pPr>
                      <a:r>
                        <a:rPr lang="en" sz="1200"/>
                        <a:t>1689</a:t>
                      </a:r>
                      <a:endParaRPr sz="1200"/>
                    </a:p>
                  </a:txBody>
                  <a:tcPr marT="63500" marB="63500" marR="63500" marL="63500"/>
                </a:tc>
                <a:tc>
                  <a:txBody>
                    <a:bodyPr/>
                    <a:lstStyle/>
                    <a:p>
                      <a:pPr indent="0" lvl="0" marL="0" rtl="0" algn="l">
                        <a:spcBef>
                          <a:spcPts val="0"/>
                        </a:spcBef>
                        <a:spcAft>
                          <a:spcPts val="0"/>
                        </a:spcAft>
                        <a:buNone/>
                      </a:pPr>
                      <a:r>
                        <a:rPr lang="en" sz="1200"/>
                        <a:t>2037</a:t>
                      </a:r>
                      <a:endParaRPr sz="1200"/>
                    </a:p>
                  </a:txBody>
                  <a:tcPr marT="63500" marB="63500" marR="63500" marL="63500"/>
                </a:tc>
              </a:tr>
              <a:tr h="442425">
                <a:tc>
                  <a:txBody>
                    <a:bodyPr/>
                    <a:lstStyle/>
                    <a:p>
                      <a:pPr indent="0" lvl="0" marL="0" rtl="0" algn="l">
                        <a:spcBef>
                          <a:spcPts val="0"/>
                        </a:spcBef>
                        <a:spcAft>
                          <a:spcPts val="0"/>
                        </a:spcAft>
                        <a:buNone/>
                      </a:pPr>
                      <a:r>
                        <a:rPr lang="en" sz="1200"/>
                        <a:t>Share(%) vs all domain</a:t>
                      </a:r>
                      <a:endParaRPr sz="1200"/>
                    </a:p>
                  </a:txBody>
                  <a:tcPr marT="63500" marB="63500" marR="63500" marL="63500"/>
                </a:tc>
                <a:tc>
                  <a:txBody>
                    <a:bodyPr/>
                    <a:lstStyle/>
                    <a:p>
                      <a:pPr indent="0" lvl="0" marL="0" rtl="0" algn="l">
                        <a:spcBef>
                          <a:spcPts val="0"/>
                        </a:spcBef>
                        <a:spcAft>
                          <a:spcPts val="0"/>
                        </a:spcAft>
                        <a:buNone/>
                      </a:pPr>
                      <a:r>
                        <a:rPr lang="en" sz="1200"/>
                        <a:t>0.03</a:t>
                      </a:r>
                      <a:endParaRPr sz="1200"/>
                    </a:p>
                  </a:txBody>
                  <a:tcPr marT="63500" marB="63500" marR="63500" marL="63500"/>
                </a:tc>
                <a:tc>
                  <a:txBody>
                    <a:bodyPr/>
                    <a:lstStyle/>
                    <a:p>
                      <a:pPr indent="0" lvl="0" marL="0" rtl="0" algn="l">
                        <a:spcBef>
                          <a:spcPts val="0"/>
                        </a:spcBef>
                        <a:spcAft>
                          <a:spcPts val="0"/>
                        </a:spcAft>
                        <a:buNone/>
                      </a:pPr>
                      <a:r>
                        <a:rPr lang="en" sz="1200"/>
                        <a:t>20.41</a:t>
                      </a:r>
                      <a:endParaRPr sz="1200"/>
                    </a:p>
                  </a:txBody>
                  <a:tcPr marT="63500" marB="63500" marR="63500" marL="63500"/>
                </a:tc>
                <a:tc>
                  <a:txBody>
                    <a:bodyPr/>
                    <a:lstStyle/>
                    <a:p>
                      <a:pPr indent="0" lvl="0" marL="0" rtl="0" algn="l">
                        <a:spcBef>
                          <a:spcPts val="0"/>
                        </a:spcBef>
                        <a:spcAft>
                          <a:spcPts val="0"/>
                        </a:spcAft>
                        <a:buNone/>
                      </a:pPr>
                      <a:r>
                        <a:rPr lang="en" sz="1200"/>
                        <a:t>20.29</a:t>
                      </a:r>
                      <a:endParaRPr sz="1200"/>
                    </a:p>
                  </a:txBody>
                  <a:tcPr marT="63500" marB="63500" marR="63500" marL="63500"/>
                </a:tc>
                <a:tc>
                  <a:txBody>
                    <a:bodyPr/>
                    <a:lstStyle/>
                    <a:p>
                      <a:pPr indent="0" lvl="0" marL="0" rtl="0" algn="l">
                        <a:spcBef>
                          <a:spcPts val="0"/>
                        </a:spcBef>
                        <a:spcAft>
                          <a:spcPts val="0"/>
                        </a:spcAft>
                        <a:buNone/>
                      </a:pPr>
                      <a:r>
                        <a:rPr lang="en" sz="1200"/>
                        <a:t>19.77</a:t>
                      </a:r>
                      <a:endParaRPr sz="1200"/>
                    </a:p>
                  </a:txBody>
                  <a:tcPr marT="63500" marB="63500" marR="63500" marL="63500"/>
                </a:tc>
                <a:tc>
                  <a:txBody>
                    <a:bodyPr/>
                    <a:lstStyle/>
                    <a:p>
                      <a:pPr indent="0" lvl="0" marL="0" rtl="0" algn="l">
                        <a:spcBef>
                          <a:spcPts val="0"/>
                        </a:spcBef>
                        <a:spcAft>
                          <a:spcPts val="0"/>
                        </a:spcAft>
                        <a:buNone/>
                      </a:pPr>
                      <a:r>
                        <a:rPr lang="en" sz="1200"/>
                        <a:t>16.89</a:t>
                      </a:r>
                      <a:endParaRPr sz="1200"/>
                    </a:p>
                  </a:txBody>
                  <a:tcPr marT="63500" marB="63500" marR="63500" marL="63500"/>
                </a:tc>
                <a:tc>
                  <a:txBody>
                    <a:bodyPr/>
                    <a:lstStyle/>
                    <a:p>
                      <a:pPr indent="0" lvl="0" marL="0" rtl="0" algn="l">
                        <a:spcBef>
                          <a:spcPts val="0"/>
                        </a:spcBef>
                        <a:spcAft>
                          <a:spcPts val="0"/>
                        </a:spcAft>
                        <a:buNone/>
                      </a:pPr>
                      <a:r>
                        <a:rPr lang="en" sz="1200"/>
                        <a:t>20.37</a:t>
                      </a:r>
                      <a:endParaRPr sz="1200"/>
                    </a:p>
                  </a:txBody>
                  <a:tcPr marT="63500" marB="63500" marR="63500" marL="63500"/>
                </a:tc>
              </a:tr>
              <a:tr h="442425">
                <a:tc>
                  <a:txBody>
                    <a:bodyPr/>
                    <a:lstStyle/>
                    <a:p>
                      <a:pPr indent="0" lvl="0" marL="0" rtl="0" algn="l">
                        <a:spcBef>
                          <a:spcPts val="0"/>
                        </a:spcBef>
                        <a:spcAft>
                          <a:spcPts val="0"/>
                        </a:spcAft>
                        <a:buNone/>
                      </a:pPr>
                      <a:r>
                        <a:rPr lang="en" sz="1200"/>
                        <a:t>Share(%) vs https domain</a:t>
                      </a:r>
                      <a:endParaRPr sz="1200"/>
                    </a:p>
                  </a:txBody>
                  <a:tcPr marT="63500" marB="63500" marR="63500" marL="63500"/>
                </a:tc>
                <a:tc>
                  <a:txBody>
                    <a:bodyPr/>
                    <a:lstStyle/>
                    <a:p>
                      <a:pPr indent="0" lvl="0" marL="0" rtl="0" algn="l">
                        <a:spcBef>
                          <a:spcPts val="0"/>
                        </a:spcBef>
                        <a:spcAft>
                          <a:spcPts val="0"/>
                        </a:spcAft>
                        <a:buNone/>
                      </a:pPr>
                      <a:r>
                        <a:rPr lang="en" sz="1200"/>
                        <a:t>0.14</a:t>
                      </a:r>
                      <a:endParaRPr sz="1200"/>
                    </a:p>
                  </a:txBody>
                  <a:tcPr marT="63500" marB="63500" marR="63500" marL="63500"/>
                </a:tc>
                <a:tc>
                  <a:txBody>
                    <a:bodyPr/>
                    <a:lstStyle/>
                    <a:p>
                      <a:pPr indent="0" lvl="0" marL="0" rtl="0" algn="l">
                        <a:spcBef>
                          <a:spcPts val="0"/>
                        </a:spcBef>
                        <a:spcAft>
                          <a:spcPts val="0"/>
                        </a:spcAft>
                        <a:buNone/>
                      </a:pPr>
                      <a:r>
                        <a:rPr lang="en" sz="1200"/>
                        <a:t>99.85</a:t>
                      </a:r>
                      <a:endParaRPr sz="1200"/>
                    </a:p>
                  </a:txBody>
                  <a:tcPr marT="63500" marB="63500" marR="63500" marL="63500"/>
                </a:tc>
                <a:tc>
                  <a:txBody>
                    <a:bodyPr/>
                    <a:lstStyle/>
                    <a:p>
                      <a:pPr indent="0" lvl="0" marL="0" rtl="0" algn="l">
                        <a:spcBef>
                          <a:spcPts val="0"/>
                        </a:spcBef>
                        <a:spcAft>
                          <a:spcPts val="0"/>
                        </a:spcAft>
                        <a:buNone/>
                      </a:pPr>
                      <a:r>
                        <a:rPr lang="en" sz="1200"/>
                        <a:t>99.27</a:t>
                      </a:r>
                      <a:endParaRPr sz="1200"/>
                    </a:p>
                  </a:txBody>
                  <a:tcPr marT="63500" marB="63500" marR="63500" marL="63500"/>
                </a:tc>
                <a:tc>
                  <a:txBody>
                    <a:bodyPr/>
                    <a:lstStyle/>
                    <a:p>
                      <a:pPr indent="0" lvl="0" marL="0" rtl="0" algn="l">
                        <a:spcBef>
                          <a:spcPts val="0"/>
                        </a:spcBef>
                        <a:spcAft>
                          <a:spcPts val="0"/>
                        </a:spcAft>
                        <a:buNone/>
                      </a:pPr>
                      <a:r>
                        <a:rPr lang="en" sz="1200"/>
                        <a:t>96.72</a:t>
                      </a:r>
                      <a:endParaRPr sz="1200"/>
                    </a:p>
                  </a:txBody>
                  <a:tcPr marT="63500" marB="63500" marR="63500" marL="63500"/>
                </a:tc>
                <a:tc>
                  <a:txBody>
                    <a:bodyPr/>
                    <a:lstStyle/>
                    <a:p>
                      <a:pPr indent="0" lvl="0" marL="0" rtl="0" algn="l">
                        <a:spcBef>
                          <a:spcPts val="0"/>
                        </a:spcBef>
                        <a:spcAft>
                          <a:spcPts val="0"/>
                        </a:spcAft>
                        <a:buNone/>
                      </a:pPr>
                      <a:r>
                        <a:rPr lang="en" sz="1200"/>
                        <a:t>82.63</a:t>
                      </a:r>
                      <a:endParaRPr sz="1200"/>
                    </a:p>
                  </a:txBody>
                  <a:tcPr marT="63500" marB="63500" marR="63500" marL="63500"/>
                </a:tc>
                <a:tc>
                  <a:txBody>
                    <a:bodyPr/>
                    <a:lstStyle/>
                    <a:p>
                      <a:pPr indent="0" lvl="0" marL="0" rtl="0" algn="l">
                        <a:spcBef>
                          <a:spcPts val="0"/>
                        </a:spcBef>
                        <a:spcAft>
                          <a:spcPts val="0"/>
                        </a:spcAft>
                        <a:buNone/>
                      </a:pPr>
                      <a:r>
                        <a:rPr lang="en" sz="1200"/>
                        <a:t>99.66</a:t>
                      </a:r>
                      <a:endParaRPr sz="1200"/>
                    </a:p>
                  </a:txBody>
                  <a:tcPr marT="63500" marB="63500" marR="63500" marL="63500"/>
                </a:tc>
              </a:tr>
            </a:tbl>
          </a:graphicData>
        </a:graphic>
      </p:graphicFrame>
      <p:graphicFrame>
        <p:nvGraphicFramePr>
          <p:cNvPr id="122" name="Google Shape;122;p23"/>
          <p:cNvGraphicFramePr/>
          <p:nvPr/>
        </p:nvGraphicFramePr>
        <p:xfrm>
          <a:off x="538475" y="1087650"/>
          <a:ext cx="3000000" cy="3000000"/>
        </p:xfrm>
        <a:graphic>
          <a:graphicData uri="http://schemas.openxmlformats.org/drawingml/2006/table">
            <a:tbl>
              <a:tblPr>
                <a:noFill/>
                <a:tableStyleId>{8D1020EE-3946-40EC-A638-E42D87929FFF}</a:tableStyleId>
              </a:tblPr>
              <a:tblGrid>
                <a:gridCol w="1615575"/>
                <a:gridCol w="844750"/>
                <a:gridCol w="1451725"/>
                <a:gridCol w="1814000"/>
                <a:gridCol w="2307600"/>
              </a:tblGrid>
              <a:tr h="494700">
                <a:tc>
                  <a:txBody>
                    <a:bodyPr/>
                    <a:lstStyle/>
                    <a:p>
                      <a:pPr indent="0" lvl="0" marL="0" rtl="0" algn="l">
                        <a:spcBef>
                          <a:spcPts val="0"/>
                        </a:spcBef>
                        <a:spcAft>
                          <a:spcPts val="0"/>
                        </a:spcAft>
                        <a:buNone/>
                      </a:pPr>
                      <a:r>
                        <a:rPr lang="en" sz="1500"/>
                        <a:t>Domain/Protocol</a:t>
                      </a:r>
                      <a:endParaRPr sz="1500"/>
                    </a:p>
                  </a:txBody>
                  <a:tcPr marT="63500" marB="63500" marR="63500" marL="63500"/>
                </a:tc>
                <a:tc>
                  <a:txBody>
                    <a:bodyPr/>
                    <a:lstStyle/>
                    <a:p>
                      <a:pPr indent="0" lvl="0" marL="0" rtl="0" algn="l">
                        <a:spcBef>
                          <a:spcPts val="0"/>
                        </a:spcBef>
                        <a:spcAft>
                          <a:spcPts val="0"/>
                        </a:spcAft>
                        <a:buNone/>
                      </a:pPr>
                      <a:r>
                        <a:rPr lang="en" sz="1500"/>
                        <a:t>HTTPS</a:t>
                      </a:r>
                      <a:endParaRPr sz="1500"/>
                    </a:p>
                  </a:txBody>
                  <a:tcPr marT="63500" marB="63500" marR="63500" marL="63500"/>
                </a:tc>
                <a:tc>
                  <a:txBody>
                    <a:bodyPr/>
                    <a:lstStyle/>
                    <a:p>
                      <a:pPr indent="0" lvl="0" marL="0" rtl="0" algn="l">
                        <a:spcBef>
                          <a:spcPts val="0"/>
                        </a:spcBef>
                        <a:spcAft>
                          <a:spcPts val="0"/>
                        </a:spcAft>
                        <a:buNone/>
                      </a:pPr>
                      <a:r>
                        <a:rPr lang="en" sz="1500"/>
                        <a:t>HTTPS+</a:t>
                      </a:r>
                      <a:r>
                        <a:rPr lang="en" sz="1500"/>
                        <a:t>ECH</a:t>
                      </a:r>
                      <a:endParaRPr sz="1500"/>
                    </a:p>
                  </a:txBody>
                  <a:tcPr marT="63500" marB="63500" marR="63500" marL="63500"/>
                </a:tc>
                <a:tc>
                  <a:txBody>
                    <a:bodyPr/>
                    <a:lstStyle/>
                    <a:p>
                      <a:pPr indent="0" lvl="0" marL="0" rtl="0" algn="l">
                        <a:spcBef>
                          <a:spcPts val="0"/>
                        </a:spcBef>
                        <a:spcAft>
                          <a:spcPts val="0"/>
                        </a:spcAft>
                        <a:buNone/>
                      </a:pPr>
                      <a:r>
                        <a:rPr lang="en" sz="1500"/>
                        <a:t>HTTPS+</a:t>
                      </a:r>
                      <a:r>
                        <a:rPr lang="en" sz="1500"/>
                        <a:t>DNSSEC</a:t>
                      </a:r>
                      <a:endParaRPr sz="1500"/>
                    </a:p>
                  </a:txBody>
                  <a:tcPr marT="63500" marB="63500" marR="63500" marL="63500"/>
                </a:tc>
                <a:tc>
                  <a:txBody>
                    <a:bodyPr/>
                    <a:lstStyle/>
                    <a:p>
                      <a:pPr indent="0" lvl="0" marL="0" rtl="0" algn="l">
                        <a:spcBef>
                          <a:spcPts val="0"/>
                        </a:spcBef>
                        <a:spcAft>
                          <a:spcPts val="0"/>
                        </a:spcAft>
                        <a:buNone/>
                      </a:pPr>
                      <a:r>
                        <a:rPr lang="en" sz="1500"/>
                        <a:t>HTTPS+ECH+DNSSEC</a:t>
                      </a:r>
                      <a:endParaRPr sz="1500"/>
                    </a:p>
                  </a:txBody>
                  <a:tcPr marT="63500" marB="63500" marR="63500" marL="63500"/>
                </a:tc>
              </a:tr>
              <a:tr h="494700">
                <a:tc>
                  <a:txBody>
                    <a:bodyPr/>
                    <a:lstStyle/>
                    <a:p>
                      <a:pPr indent="0" lvl="0" marL="0" rtl="0" algn="l">
                        <a:spcBef>
                          <a:spcPts val="0"/>
                        </a:spcBef>
                        <a:spcAft>
                          <a:spcPts val="0"/>
                        </a:spcAft>
                        <a:buNone/>
                      </a:pPr>
                      <a:r>
                        <a:rPr lang="en" sz="1500"/>
                        <a:t>Count</a:t>
                      </a:r>
                      <a:endParaRPr sz="1500"/>
                    </a:p>
                  </a:txBody>
                  <a:tcPr marT="63500" marB="63500" marR="63500" marL="63500"/>
                </a:tc>
                <a:tc>
                  <a:txBody>
                    <a:bodyPr/>
                    <a:lstStyle/>
                    <a:p>
                      <a:pPr indent="0" lvl="0" marL="0" rtl="0" algn="l">
                        <a:spcBef>
                          <a:spcPts val="0"/>
                        </a:spcBef>
                        <a:spcAft>
                          <a:spcPts val="0"/>
                        </a:spcAft>
                        <a:buNone/>
                      </a:pPr>
                      <a:r>
                        <a:rPr lang="en" sz="1500"/>
                        <a:t>2044</a:t>
                      </a:r>
                      <a:endParaRPr sz="1500"/>
                    </a:p>
                  </a:txBody>
                  <a:tcPr marT="63500" marB="63500" marR="63500" marL="63500"/>
                </a:tc>
                <a:tc>
                  <a:txBody>
                    <a:bodyPr/>
                    <a:lstStyle/>
                    <a:p>
                      <a:pPr indent="0" lvl="0" marL="0" rtl="0" algn="l">
                        <a:spcBef>
                          <a:spcPts val="0"/>
                        </a:spcBef>
                        <a:spcAft>
                          <a:spcPts val="0"/>
                        </a:spcAft>
                        <a:buNone/>
                      </a:pPr>
                      <a:r>
                        <a:rPr lang="en" sz="1500"/>
                        <a:t>497</a:t>
                      </a:r>
                      <a:endParaRPr sz="1500"/>
                    </a:p>
                  </a:txBody>
                  <a:tcPr marT="63500" marB="63500" marR="63500" marL="63500"/>
                </a:tc>
                <a:tc>
                  <a:txBody>
                    <a:bodyPr/>
                    <a:lstStyle/>
                    <a:p>
                      <a:pPr indent="0" lvl="0" marL="0" rtl="0" algn="l">
                        <a:spcBef>
                          <a:spcPts val="0"/>
                        </a:spcBef>
                        <a:spcAft>
                          <a:spcPts val="0"/>
                        </a:spcAft>
                        <a:buNone/>
                      </a:pPr>
                      <a:r>
                        <a:rPr lang="en" sz="1500"/>
                        <a:t>430</a:t>
                      </a:r>
                      <a:endParaRPr sz="1500"/>
                    </a:p>
                  </a:txBody>
                  <a:tcPr marT="63500" marB="63500" marR="63500" marL="63500"/>
                </a:tc>
                <a:tc>
                  <a:txBody>
                    <a:bodyPr/>
                    <a:lstStyle/>
                    <a:p>
                      <a:pPr indent="0" lvl="0" marL="0" rtl="0" algn="l">
                        <a:spcBef>
                          <a:spcPts val="0"/>
                        </a:spcBef>
                        <a:spcAft>
                          <a:spcPts val="0"/>
                        </a:spcAft>
                        <a:buNone/>
                      </a:pPr>
                      <a:r>
                        <a:rPr lang="en" sz="1500"/>
                        <a:t>59</a:t>
                      </a:r>
                      <a:endParaRPr sz="1500"/>
                    </a:p>
                  </a:txBody>
                  <a:tcPr marT="63500" marB="63500" marR="63500" marL="63500"/>
                </a:tc>
              </a:tr>
              <a:tr h="494700">
                <a:tc>
                  <a:txBody>
                    <a:bodyPr/>
                    <a:lstStyle/>
                    <a:p>
                      <a:pPr indent="0" lvl="0" marL="0" rtl="0" algn="l">
                        <a:spcBef>
                          <a:spcPts val="0"/>
                        </a:spcBef>
                        <a:spcAft>
                          <a:spcPts val="0"/>
                        </a:spcAft>
                        <a:buNone/>
                      </a:pPr>
                      <a:r>
                        <a:rPr lang="en" sz="1500"/>
                        <a:t>Share(%)</a:t>
                      </a:r>
                      <a:endParaRPr sz="1500"/>
                    </a:p>
                  </a:txBody>
                  <a:tcPr marT="63500" marB="63500" marR="63500" marL="63500"/>
                </a:tc>
                <a:tc>
                  <a:txBody>
                    <a:bodyPr/>
                    <a:lstStyle/>
                    <a:p>
                      <a:pPr indent="0" lvl="0" marL="0" rtl="0" algn="l">
                        <a:spcBef>
                          <a:spcPts val="0"/>
                        </a:spcBef>
                        <a:spcAft>
                          <a:spcPts val="0"/>
                        </a:spcAft>
                        <a:buNone/>
                      </a:pPr>
                      <a:r>
                        <a:rPr lang="en" sz="1500"/>
                        <a:t>20.44</a:t>
                      </a:r>
                      <a:endParaRPr sz="1500"/>
                    </a:p>
                  </a:txBody>
                  <a:tcPr marT="63500" marB="63500" marR="63500" marL="63500"/>
                </a:tc>
                <a:tc>
                  <a:txBody>
                    <a:bodyPr/>
                    <a:lstStyle/>
                    <a:p>
                      <a:pPr indent="0" lvl="0" marL="0" rtl="0" algn="l">
                        <a:spcBef>
                          <a:spcPts val="0"/>
                        </a:spcBef>
                        <a:spcAft>
                          <a:spcPts val="0"/>
                        </a:spcAft>
                        <a:buNone/>
                      </a:pPr>
                      <a:r>
                        <a:rPr lang="en" sz="1500"/>
                        <a:t>4.97</a:t>
                      </a:r>
                      <a:endParaRPr sz="1500"/>
                    </a:p>
                  </a:txBody>
                  <a:tcPr marT="63500" marB="63500" marR="63500" marL="63500"/>
                </a:tc>
                <a:tc>
                  <a:txBody>
                    <a:bodyPr/>
                    <a:lstStyle/>
                    <a:p>
                      <a:pPr indent="0" lvl="0" marL="0" rtl="0" algn="l">
                        <a:spcBef>
                          <a:spcPts val="0"/>
                        </a:spcBef>
                        <a:spcAft>
                          <a:spcPts val="0"/>
                        </a:spcAft>
                        <a:buNone/>
                      </a:pPr>
                      <a:r>
                        <a:rPr lang="en" sz="1500"/>
                        <a:t>4.30</a:t>
                      </a:r>
                      <a:endParaRPr sz="1500"/>
                    </a:p>
                  </a:txBody>
                  <a:tcPr marT="63500" marB="63500" marR="63500" marL="63500"/>
                </a:tc>
                <a:tc>
                  <a:txBody>
                    <a:bodyPr/>
                    <a:lstStyle/>
                    <a:p>
                      <a:pPr indent="0" lvl="0" marL="0" rtl="0" algn="l">
                        <a:spcBef>
                          <a:spcPts val="0"/>
                        </a:spcBef>
                        <a:spcAft>
                          <a:spcPts val="0"/>
                        </a:spcAft>
                        <a:buNone/>
                      </a:pPr>
                      <a:r>
                        <a:rPr lang="en" sz="1500"/>
                        <a:t>0.59</a:t>
                      </a:r>
                      <a:endParaRPr sz="1500"/>
                    </a:p>
                  </a:txBody>
                  <a:tcPr marT="63500" marB="63500" marR="63500" marL="6350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Simultaneous HTTPS, ECH, and DNSSEC usage</a:t>
            </a:r>
            <a:endParaRPr/>
          </a:p>
        </p:txBody>
      </p:sp>
      <p:pic>
        <p:nvPicPr>
          <p:cNvPr id="128" name="Google Shape;128;p24"/>
          <p:cNvPicPr preferRelativeResize="0"/>
          <p:nvPr/>
        </p:nvPicPr>
        <p:blipFill>
          <a:blip r:embed="rId3">
            <a:alphaModFix/>
          </a:blip>
          <a:stretch>
            <a:fillRect/>
          </a:stretch>
        </p:blipFill>
        <p:spPr>
          <a:xfrm>
            <a:off x="1482601" y="1017725"/>
            <a:ext cx="6178775" cy="37228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Stats on the Monthly Top 10,000 List</a:t>
            </a:r>
            <a:endParaRPr/>
          </a:p>
        </p:txBody>
      </p:sp>
      <p:pic>
        <p:nvPicPr>
          <p:cNvPr id="134" name="Google Shape;134;p25"/>
          <p:cNvPicPr preferRelativeResize="0"/>
          <p:nvPr/>
        </p:nvPicPr>
        <p:blipFill>
          <a:blip r:embed="rId3">
            <a:alphaModFix/>
          </a:blip>
          <a:stretch>
            <a:fillRect/>
          </a:stretch>
        </p:blipFill>
        <p:spPr>
          <a:xfrm>
            <a:off x="230075" y="1152475"/>
            <a:ext cx="3000375" cy="2041026"/>
          </a:xfrm>
          <a:prstGeom prst="rect">
            <a:avLst/>
          </a:prstGeom>
          <a:noFill/>
          <a:ln>
            <a:noFill/>
          </a:ln>
        </p:spPr>
      </p:pic>
      <p:pic>
        <p:nvPicPr>
          <p:cNvPr id="135" name="Google Shape;135;p25"/>
          <p:cNvPicPr preferRelativeResize="0"/>
          <p:nvPr/>
        </p:nvPicPr>
        <p:blipFill>
          <a:blip r:embed="rId4">
            <a:alphaModFix/>
          </a:blip>
          <a:stretch>
            <a:fillRect/>
          </a:stretch>
        </p:blipFill>
        <p:spPr>
          <a:xfrm>
            <a:off x="5489931" y="1152475"/>
            <a:ext cx="3187693" cy="1930713"/>
          </a:xfrm>
          <a:prstGeom prst="rect">
            <a:avLst/>
          </a:prstGeom>
          <a:noFill/>
          <a:ln>
            <a:noFill/>
          </a:ln>
        </p:spPr>
      </p:pic>
      <p:pic>
        <p:nvPicPr>
          <p:cNvPr id="136" name="Google Shape;136;p25"/>
          <p:cNvPicPr preferRelativeResize="0"/>
          <p:nvPr/>
        </p:nvPicPr>
        <p:blipFill>
          <a:blip r:embed="rId5">
            <a:alphaModFix/>
          </a:blip>
          <a:stretch>
            <a:fillRect/>
          </a:stretch>
        </p:blipFill>
        <p:spPr>
          <a:xfrm>
            <a:off x="230075" y="3240825"/>
            <a:ext cx="3000375" cy="1809750"/>
          </a:xfrm>
          <a:prstGeom prst="rect">
            <a:avLst/>
          </a:prstGeom>
          <a:noFill/>
          <a:ln>
            <a:noFill/>
          </a:ln>
        </p:spPr>
      </p:pic>
      <p:pic>
        <p:nvPicPr>
          <p:cNvPr id="137" name="Google Shape;137;p25"/>
          <p:cNvPicPr preferRelativeResize="0"/>
          <p:nvPr/>
        </p:nvPicPr>
        <p:blipFill>
          <a:blip r:embed="rId6">
            <a:alphaModFix/>
          </a:blip>
          <a:stretch>
            <a:fillRect/>
          </a:stretch>
        </p:blipFill>
        <p:spPr>
          <a:xfrm>
            <a:off x="5489925" y="3137975"/>
            <a:ext cx="3187700" cy="191261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Speculation: Why is </a:t>
            </a:r>
            <a:r>
              <a:rPr lang="en"/>
              <a:t>DNSSEC</a:t>
            </a:r>
            <a:r>
              <a:rPr lang="en"/>
              <a:t> Usage So Low?</a:t>
            </a:r>
            <a:endParaRPr/>
          </a:p>
        </p:txBody>
      </p:sp>
      <p:sp>
        <p:nvSpPr>
          <p:cNvPr id="143" name="Google Shape;14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Reading </a:t>
            </a:r>
            <a:r>
              <a:rPr lang="en"/>
              <a:t>developer</a:t>
            </a:r>
            <a:r>
              <a:rPr lang="en"/>
              <a:t> feedback, it seems that DNSSEC has a set of weaknesses [1]: </a:t>
            </a:r>
            <a:endParaRPr/>
          </a:p>
          <a:p>
            <a:pPr indent="-317500" lvl="1" marL="914400" rtl="0" algn="l">
              <a:spcBef>
                <a:spcPts val="0"/>
              </a:spcBef>
              <a:spcAft>
                <a:spcPts val="0"/>
              </a:spcAft>
              <a:buSzPts val="1400"/>
              <a:buChar char="○"/>
            </a:pPr>
            <a:r>
              <a:rPr lang="en" sz="1800"/>
              <a:t>It’s difficult to implement and maintain, with key rollovers that can cause outages for domains if not handled correctly.</a:t>
            </a:r>
            <a:endParaRPr sz="1800"/>
          </a:p>
          <a:p>
            <a:pPr indent="-342900" lvl="1" marL="914400" rtl="0" algn="l">
              <a:spcBef>
                <a:spcPts val="0"/>
              </a:spcBef>
              <a:spcAft>
                <a:spcPts val="0"/>
              </a:spcAft>
              <a:buSzPts val="1800"/>
              <a:buChar char="○"/>
            </a:pPr>
            <a:r>
              <a:rPr lang="en" sz="1800"/>
              <a:t>The infrastructure to support it, like client-side validators to check signatures, was just not there.</a:t>
            </a:r>
            <a:endParaRPr sz="1800"/>
          </a:p>
          <a:p>
            <a:pPr indent="-342900" lvl="1" marL="914400" rtl="0" algn="l">
              <a:spcBef>
                <a:spcPts val="0"/>
              </a:spcBef>
              <a:spcAft>
                <a:spcPts val="0"/>
              </a:spcAft>
              <a:buSzPts val="1800"/>
              <a:buChar char="○"/>
            </a:pPr>
            <a:r>
              <a:rPr lang="en" sz="1800"/>
              <a:t>DNSSEC mostly protects the server-side records, not client-side, which a lot of users want. So it’s useful for high-security users, like banks.</a:t>
            </a:r>
            <a:endParaRPr sz="1800"/>
          </a:p>
          <a:p>
            <a:pPr indent="-342900" lvl="1" marL="914400" rtl="0" algn="l">
              <a:spcBef>
                <a:spcPts val="0"/>
              </a:spcBef>
              <a:spcAft>
                <a:spcPts val="0"/>
              </a:spcAft>
              <a:buSzPts val="1800"/>
              <a:buChar char="○"/>
            </a:pPr>
            <a:r>
              <a:rPr lang="en" sz="1800"/>
              <a:t>Attractive alternative security methods overshadow it, like DNS over HTTPS, which encrypts DNS queries.  [2] [3] </a:t>
            </a:r>
            <a:endParaRPr sz="1800"/>
          </a:p>
          <a:p>
            <a:pPr indent="-342900" lvl="1" marL="914400" rtl="0" algn="l">
              <a:spcBef>
                <a:spcPts val="0"/>
              </a:spcBef>
              <a:spcAft>
                <a:spcPts val="0"/>
              </a:spcAft>
              <a:buSzPts val="1800"/>
              <a:buChar char="○"/>
            </a:pPr>
            <a:r>
              <a:rPr lang="en" sz="1800"/>
              <a:t>And all that with the extra resource costs to support the cryptology system means that it’s unattractive.</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Speculation: Why is ECH Usage So Low?</a:t>
            </a:r>
            <a:endParaRPr/>
          </a:p>
          <a:p>
            <a:pPr indent="0" lvl="0" marL="0" rtl="0" algn="l">
              <a:spcBef>
                <a:spcPts val="0"/>
              </a:spcBef>
              <a:spcAft>
                <a:spcPts val="0"/>
              </a:spcAft>
              <a:buNone/>
            </a:pPr>
            <a:r>
              <a:t/>
            </a:r>
            <a:endParaRPr/>
          </a:p>
        </p:txBody>
      </p:sp>
      <p:sp>
        <p:nvSpPr>
          <p:cNvPr id="149" name="Google Shape;14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sz="1550">
                <a:solidFill>
                  <a:srgbClr val="000000"/>
                </a:solidFill>
              </a:rPr>
              <a:t>ECH requires coordinated support across DNS, TLS, and server infrastructure, </a:t>
            </a:r>
            <a:r>
              <a:rPr lang="en" sz="1550">
                <a:solidFill>
                  <a:srgbClr val="000000"/>
                </a:solidFill>
              </a:rPr>
              <a:t>so domains with less use cases are likely to disuse it to reduce management load [4].</a:t>
            </a:r>
            <a:endParaRPr sz="1550">
              <a:solidFill>
                <a:srgbClr val="000000"/>
              </a:solidFill>
            </a:endParaRPr>
          </a:p>
          <a:p>
            <a:pPr indent="-342900" lvl="0" marL="457200" rtl="0" algn="l">
              <a:spcBef>
                <a:spcPts val="0"/>
              </a:spcBef>
              <a:spcAft>
                <a:spcPts val="0"/>
              </a:spcAft>
              <a:buSzPts val="1800"/>
              <a:buChar char="●"/>
            </a:pPr>
            <a:r>
              <a:rPr lang="en" sz="1550">
                <a:solidFill>
                  <a:srgbClr val="000000"/>
                </a:solidFill>
              </a:rPr>
              <a:t>Cloudflare encryption masks the domain in a TLS handshake, making content filtering and monitoring difficult, affecting things like firewalls [5]. </a:t>
            </a:r>
            <a:endParaRPr sz="1550">
              <a:solidFill>
                <a:srgbClr val="000000"/>
              </a:solidFill>
            </a:endParaRPr>
          </a:p>
          <a:p>
            <a:pPr indent="-327025" lvl="0" marL="457200" rtl="0" algn="l">
              <a:spcBef>
                <a:spcPts val="0"/>
              </a:spcBef>
              <a:spcAft>
                <a:spcPts val="0"/>
              </a:spcAft>
              <a:buClr>
                <a:srgbClr val="000000"/>
              </a:buClr>
              <a:buSzPts val="1550"/>
              <a:buChar char="●"/>
            </a:pPr>
            <a:r>
              <a:rPr lang="en" sz="1550">
                <a:solidFill>
                  <a:srgbClr val="000000"/>
                </a:solidFill>
              </a:rPr>
              <a:t>Cloudflare turns on ECH by default for free plans, with the server-side ability to turn it on and off exclusive to other plans [6]. </a:t>
            </a:r>
            <a:endParaRPr sz="1550">
              <a:solidFill>
                <a:srgbClr val="000000"/>
              </a:solidFill>
            </a:endParaRPr>
          </a:p>
          <a:p>
            <a:pPr indent="-327025" lvl="0" marL="457200" rtl="0" algn="l">
              <a:spcBef>
                <a:spcPts val="0"/>
              </a:spcBef>
              <a:spcAft>
                <a:spcPts val="0"/>
              </a:spcAft>
              <a:buClr>
                <a:srgbClr val="000000"/>
              </a:buClr>
              <a:buSzPts val="1550"/>
              <a:buChar char="●"/>
            </a:pPr>
            <a:r>
              <a:rPr lang="en" sz="1550">
                <a:solidFill>
                  <a:srgbClr val="000000"/>
                </a:solidFill>
              </a:rPr>
              <a:t>Studies that measures a higher number of domains usually have a higher amount of ECH domains. In 2022, ECH domains accounted for roughly 7.5% of general TLS traffic, compared to the almost 5 % of HTTP and ECH domains in the top 10,000 [7]. </a:t>
            </a:r>
            <a:endParaRPr sz="1550">
              <a:solidFill>
                <a:srgbClr val="000000"/>
              </a:solidFill>
            </a:endParaRPr>
          </a:p>
          <a:p>
            <a:pPr indent="-327025" lvl="1" marL="914400" rtl="0" algn="l">
              <a:spcBef>
                <a:spcPts val="0"/>
              </a:spcBef>
              <a:spcAft>
                <a:spcPts val="0"/>
              </a:spcAft>
              <a:buClr>
                <a:srgbClr val="000000"/>
              </a:buClr>
              <a:buSzPts val="1550"/>
              <a:buChar char="○"/>
            </a:pPr>
            <a:r>
              <a:rPr lang="en" sz="1550">
                <a:solidFill>
                  <a:srgbClr val="000000"/>
                </a:solidFill>
              </a:rPr>
              <a:t>Cloudflare’s a major domain provider. Across a six month period from November 2023 to April 2024, the mean of domains saw a Cloudflare name server share of 98.89% [8].</a:t>
            </a:r>
            <a:endParaRPr sz="1550">
              <a:solidFill>
                <a:srgbClr val="000000"/>
              </a:solidFill>
            </a:endParaRPr>
          </a:p>
          <a:p>
            <a:pPr indent="-327025" lvl="1" marL="914400" rtl="0" algn="l">
              <a:spcBef>
                <a:spcPts val="0"/>
              </a:spcBef>
              <a:spcAft>
                <a:spcPts val="0"/>
              </a:spcAft>
              <a:buClr>
                <a:srgbClr val="000000"/>
              </a:buClr>
              <a:buSzPts val="1550"/>
              <a:buChar char="○"/>
            </a:pPr>
            <a:r>
              <a:rPr lang="en" sz="1550">
                <a:solidFill>
                  <a:srgbClr val="000000"/>
                </a:solidFill>
              </a:rPr>
              <a:t>T</a:t>
            </a:r>
            <a:r>
              <a:rPr lang="en" sz="1550">
                <a:solidFill>
                  <a:srgbClr val="000000"/>
                </a:solidFill>
              </a:rPr>
              <a:t>he top 10,000 domains, being more popular than the domains below it, are more likely to have paid Cloudflare plans that can turn off ECH, given their potential for having additional resources that likely goes with that popularity.</a:t>
            </a:r>
            <a:endParaRPr sz="155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idx="1" type="body"/>
          </p:nvPr>
        </p:nvSpPr>
        <p:spPr>
          <a:xfrm>
            <a:off x="828675" y="4256200"/>
            <a:ext cx="8179800" cy="422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300">
                <a:solidFill>
                  <a:srgbClr val="000000"/>
                </a:solidFill>
                <a:latin typeface="Arial"/>
                <a:ea typeface="Arial"/>
                <a:cs typeface="Arial"/>
                <a:sym typeface="Arial"/>
              </a:rPr>
              <a:t>[8]</a:t>
            </a:r>
            <a:endParaRPr/>
          </a:p>
        </p:txBody>
      </p:sp>
      <p:pic>
        <p:nvPicPr>
          <p:cNvPr id="155" name="Google Shape;155;p28" title="MeanOfCloudflareServers.png"/>
          <p:cNvPicPr preferRelativeResize="0"/>
          <p:nvPr/>
        </p:nvPicPr>
        <p:blipFill>
          <a:blip r:embed="rId3">
            <a:alphaModFix/>
          </a:blip>
          <a:stretch>
            <a:fillRect/>
          </a:stretch>
        </p:blipFill>
        <p:spPr>
          <a:xfrm>
            <a:off x="828675" y="231813"/>
            <a:ext cx="7486650" cy="3914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Do Particular Domains Use These Protocols</a:t>
            </a:r>
            <a:endParaRPr/>
          </a:p>
        </p:txBody>
      </p:sp>
      <p:sp>
        <p:nvSpPr>
          <p:cNvPr id="161" name="Google Shape;16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To better understand this and ground our speculation, we did our </a:t>
            </a:r>
            <a:r>
              <a:rPr lang="en"/>
              <a:t>qualitative</a:t>
            </a:r>
            <a:r>
              <a:rPr lang="en"/>
              <a:t> analysis.</a:t>
            </a:r>
            <a:endParaRPr/>
          </a:p>
          <a:p>
            <a:pPr indent="-342900" lvl="0" marL="457200" rtl="0" algn="l">
              <a:spcBef>
                <a:spcPts val="0"/>
              </a:spcBef>
              <a:spcAft>
                <a:spcPts val="0"/>
              </a:spcAft>
              <a:buSzPts val="1800"/>
              <a:buChar char="●"/>
            </a:pPr>
            <a:r>
              <a:rPr lang="en"/>
              <a:t>As discussed before, we’ll be looking at the raw extracted data we get from domains, and dividing them by </a:t>
            </a:r>
            <a:r>
              <a:rPr lang="en"/>
              <a:t>the various values we’re recording, like ECH usage. These domains are then given two category values, site category and desired content. </a:t>
            </a:r>
            <a:endParaRPr/>
          </a:p>
          <a:p>
            <a:pPr indent="-342900" lvl="0" marL="457200" rtl="0" algn="l">
              <a:spcBef>
                <a:spcPts val="0"/>
              </a:spcBef>
              <a:spcAft>
                <a:spcPts val="0"/>
              </a:spcAft>
              <a:buSzPts val="1800"/>
              <a:buChar char="●"/>
            </a:pPr>
            <a:r>
              <a:rPr lang="en"/>
              <a:t>We’ve begun examining these records, but currently the only available report is on the usage of HTTPS + ECH + DNSSEC.</a:t>
            </a:r>
            <a:endParaRPr/>
          </a:p>
          <a:p>
            <a:pPr indent="-342900" lvl="0" marL="457200" rtl="0" algn="l">
              <a:spcBef>
                <a:spcPts val="0"/>
              </a:spcBef>
              <a:spcAft>
                <a:spcPts val="0"/>
              </a:spcAft>
              <a:buSzPts val="1800"/>
              <a:buChar char="●"/>
            </a:pPr>
            <a:r>
              <a:rPr lang="en"/>
              <a:t>If possible, other records will be found in our report, due to both presentation and parsing time </a:t>
            </a:r>
            <a:r>
              <a:rPr lang="en"/>
              <a:t>constraints</a:t>
            </a:r>
            <a:r>
              <a:rPr lang="en"/>
              <a:t>.</a:t>
            </a:r>
            <a:endParaRPr/>
          </a:p>
          <a:p>
            <a:pPr indent="-342900" lvl="0" marL="457200" rtl="0" algn="l">
              <a:spcBef>
                <a:spcPts val="0"/>
              </a:spcBef>
              <a:spcAft>
                <a:spcPts val="0"/>
              </a:spcAft>
              <a:buSzPts val="1800"/>
              <a:buChar char="●"/>
            </a:pPr>
            <a:r>
              <a:rPr lang="en"/>
              <a:t>We can still expand on our tentative findings if needed.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HTTPS + ECH + DNSSEC Pivot Table</a:t>
            </a:r>
            <a:endParaRPr/>
          </a:p>
        </p:txBody>
      </p:sp>
      <p:pic>
        <p:nvPicPr>
          <p:cNvPr id="167" name="Google Shape;167;p30" title="PivotTable.png"/>
          <p:cNvPicPr preferRelativeResize="0"/>
          <p:nvPr/>
        </p:nvPicPr>
        <p:blipFill>
          <a:blip r:embed="rId3">
            <a:alphaModFix/>
          </a:blip>
          <a:stretch>
            <a:fillRect/>
          </a:stretch>
        </p:blipFill>
        <p:spPr>
          <a:xfrm>
            <a:off x="152400" y="1580479"/>
            <a:ext cx="8839200" cy="25584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HTTPS + ECH + DNSSEC Qualitative Analysis</a:t>
            </a:r>
            <a:endParaRPr/>
          </a:p>
        </p:txBody>
      </p:sp>
      <p:sp>
        <p:nvSpPr>
          <p:cNvPr id="173" name="Google Shape;173;p31"/>
          <p:cNvSpPr txBox="1"/>
          <p:nvPr>
            <p:ph idx="1" type="body"/>
          </p:nvPr>
        </p:nvSpPr>
        <p:spPr>
          <a:xfrm>
            <a:off x="254550" y="113342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Adult Entertainment and Pirated Media are among the two largest types of desired content in domains that use HTTPS + ECH + DNSSEC.  Reasons probably have to do with ECH’s ability to hide SNI. Adult entertainment can be a taboo subject, while pirated media sites are </a:t>
            </a:r>
            <a:r>
              <a:rPr lang="en"/>
              <a:t>of a dubious</a:t>
            </a:r>
            <a:r>
              <a:rPr lang="en"/>
              <a:t> legal</a:t>
            </a:r>
            <a:r>
              <a:rPr lang="en"/>
              <a:t>ity</a:t>
            </a:r>
            <a:r>
              <a:rPr lang="en"/>
              <a:t>, so association is not ideal. That creates an incentive to hide that information from others. Furthermore these sites tend to have targets on their backs, creating another incentive to hide the SNI.</a:t>
            </a:r>
            <a:endParaRPr/>
          </a:p>
          <a:p>
            <a:pPr indent="-342900" lvl="0" marL="457200" rtl="0" algn="l">
              <a:spcBef>
                <a:spcPts val="0"/>
              </a:spcBef>
              <a:spcAft>
                <a:spcPts val="0"/>
              </a:spcAft>
              <a:buSzPts val="1800"/>
              <a:buChar char="●"/>
            </a:pPr>
            <a:r>
              <a:rPr lang="en"/>
              <a:t>Most categories describe domains that heavily use large media files: video sites, image browsers, articles with large images. That makes them reliant on CDNs for performance, which in turn makes them targets for </a:t>
            </a:r>
            <a:r>
              <a:rPr lang="en"/>
              <a:t>cache poisoning, the act of injecting malicious data into a cache to control it. DNSSEC’s validator serves as protection against these type of attacks [9].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79" name="Google Shape;17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HTTPS + ECH + DNSSEC can be a </a:t>
            </a:r>
            <a:r>
              <a:rPr lang="en"/>
              <a:t>difficult</a:t>
            </a:r>
            <a:r>
              <a:rPr lang="en"/>
              <a:t> to implement suite of </a:t>
            </a:r>
            <a:r>
              <a:rPr lang="en"/>
              <a:t>protocols. Unless they really benefit from it, most domains will avoid implementing the two options in March 2026, to reduce maintenance difficulty and server load. This is reflected in the top 10,000 domains, who are largely able turn off ECH due to their resources.</a:t>
            </a:r>
            <a:endParaRPr/>
          </a:p>
          <a:p>
            <a:pPr indent="-317500" lvl="1" marL="914400" rtl="0" algn="l">
              <a:spcBef>
                <a:spcPts val="0"/>
              </a:spcBef>
              <a:spcAft>
                <a:spcPts val="0"/>
              </a:spcAft>
              <a:buSzPts val="1400"/>
              <a:buChar char="○"/>
            </a:pPr>
            <a:r>
              <a:rPr lang="en"/>
              <a:t>Shown in the small tallies for ECH and DNSSEC, especially in tandem.</a:t>
            </a:r>
            <a:endParaRPr/>
          </a:p>
          <a:p>
            <a:pPr indent="-342900" lvl="0" marL="457200" rtl="0" algn="l">
              <a:spcBef>
                <a:spcPts val="0"/>
              </a:spcBef>
              <a:spcAft>
                <a:spcPts val="0"/>
              </a:spcAft>
              <a:buSzPts val="1800"/>
              <a:buChar char="●"/>
            </a:pPr>
            <a:r>
              <a:rPr lang="en"/>
              <a:t>There still are use cases for these protocols. DNSSEC sees use in heavy security situations like banks, while ECH sees use in privacy contingent situations. Domains in that latter situation, who also use many large media files, are a niche for HTTPS + ECH + DNSSEC, which can provide protection and confidentiality in these scenarios.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GitHub Repository</a:t>
            </a:r>
            <a:endParaRPr/>
          </a:p>
        </p:txBody>
      </p:sp>
      <p:sp>
        <p:nvSpPr>
          <p:cNvPr id="185" name="Google Shape;18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Our data collection code, actual data, internal documents, and existing work are available at our GitHub Repository.</a:t>
            </a:r>
            <a:endParaRPr/>
          </a:p>
          <a:p>
            <a:pPr indent="-342900" lvl="0" marL="457200" rtl="0" algn="l">
              <a:spcBef>
                <a:spcPts val="0"/>
              </a:spcBef>
              <a:spcAft>
                <a:spcPts val="0"/>
              </a:spcAft>
              <a:buSzPts val="1800"/>
              <a:buChar char="●"/>
            </a:pPr>
            <a:r>
              <a:rPr lang="en"/>
              <a:t>https://github.com/RhoAl/CS578-Project-Chain-Link-Security-Data-Files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4"/>
          <p:cNvSpPr txBox="1"/>
          <p:nvPr>
            <p:ph type="title"/>
          </p:nvPr>
        </p:nvSpPr>
        <p:spPr>
          <a:xfrm>
            <a:off x="191150" y="163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Citations</a:t>
            </a:r>
            <a:endParaRPr/>
          </a:p>
        </p:txBody>
      </p:sp>
      <p:sp>
        <p:nvSpPr>
          <p:cNvPr id="191" name="Google Shape;191;p34"/>
          <p:cNvSpPr txBox="1"/>
          <p:nvPr>
            <p:ph idx="1" type="body"/>
          </p:nvPr>
        </p:nvSpPr>
        <p:spPr>
          <a:xfrm>
            <a:off x="191150" y="736450"/>
            <a:ext cx="8520600" cy="41124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None/>
            </a:pPr>
            <a:r>
              <a:rPr lang="en" sz="1100">
                <a:solidFill>
                  <a:srgbClr val="000000"/>
                </a:solidFill>
              </a:rPr>
              <a:t>[1] “All your DNSSEC base are belong to US,” PwnDefend, https://www.pwndefend.com/2025/11/25/all-your-dnssec-base-are-belong-to-us/ (accessed Mar. 11, 2026). </a:t>
            </a:r>
            <a:endParaRPr sz="1100">
              <a:solidFill>
                <a:srgbClr val="000000"/>
              </a:solidFill>
            </a:endParaRPr>
          </a:p>
          <a:p>
            <a:pPr indent="0" lvl="0" marL="0" rtl="0" algn="l">
              <a:lnSpc>
                <a:spcPct val="100000"/>
              </a:lnSpc>
              <a:spcBef>
                <a:spcPts val="1200"/>
              </a:spcBef>
              <a:spcAft>
                <a:spcPts val="0"/>
              </a:spcAft>
              <a:buNone/>
            </a:pPr>
            <a:r>
              <a:rPr lang="en" sz="1100">
                <a:solidFill>
                  <a:srgbClr val="000000"/>
                </a:solidFill>
              </a:rPr>
              <a:t>[2] Chromium, https://issues.chromium.org/issues/40426170#comment23 (accessed Mar. 11, 2026). </a:t>
            </a:r>
            <a:endParaRPr sz="1100">
              <a:solidFill>
                <a:srgbClr val="000000"/>
              </a:solidFill>
            </a:endParaRPr>
          </a:p>
          <a:p>
            <a:pPr indent="0" lvl="0" marL="0" rtl="0" algn="l">
              <a:spcBef>
                <a:spcPts val="1200"/>
              </a:spcBef>
              <a:spcAft>
                <a:spcPts val="0"/>
              </a:spcAft>
              <a:buNone/>
            </a:pPr>
            <a:r>
              <a:rPr lang="en" sz="1100">
                <a:solidFill>
                  <a:srgbClr val="000000"/>
                </a:solidFill>
              </a:rPr>
              <a:t>[3] A. Kotylevskiy, “DNSSEC: Should you use it? an expert’s view on the pros, cons, and when to implement - netlas blog,” Netlas, https://netlas.io/blog/what_is_dnssec/#:~:text=DNSSEC%20does%20not%20protect%20against,responses%20by%20removing%20DNSSEC%20configuration (accessed Mar. 11, 2026). </a:t>
            </a:r>
            <a:endParaRPr sz="1100">
              <a:solidFill>
                <a:srgbClr val="000000"/>
              </a:solidFill>
            </a:endParaRPr>
          </a:p>
          <a:p>
            <a:pPr indent="0" lvl="0" marL="0" rtl="0" algn="l">
              <a:spcBef>
                <a:spcPts val="1200"/>
              </a:spcBef>
              <a:spcAft>
                <a:spcPts val="0"/>
              </a:spcAft>
              <a:buNone/>
            </a:pPr>
            <a:r>
              <a:rPr lang="en" sz="1100">
                <a:solidFill>
                  <a:srgbClr val="000000"/>
                </a:solidFill>
              </a:rPr>
              <a:t>[4]Khandkar, V. S., Hanawal, M. K., &amp; Kulkarni, S. G. (2022). Challenges in Adapting ECH in TLS for Privacy Enhancement over the Internet. </a:t>
            </a:r>
            <a:r>
              <a:rPr lang="en" sz="1100" u="sng">
                <a:solidFill>
                  <a:schemeClr val="hlink"/>
                </a:solidFill>
                <a:hlinkClick r:id="rId3"/>
              </a:rPr>
              <a:t>https://doi.org/10.48550/arxiv.2207.01841</a:t>
            </a:r>
            <a:endParaRPr sz="1100">
              <a:solidFill>
                <a:srgbClr val="000000"/>
              </a:solidFill>
            </a:endParaRPr>
          </a:p>
          <a:p>
            <a:pPr indent="0" lvl="0" marL="0" rtl="0" algn="l">
              <a:spcBef>
                <a:spcPts val="1200"/>
              </a:spcBef>
              <a:spcAft>
                <a:spcPts val="0"/>
              </a:spcAft>
              <a:buNone/>
            </a:pPr>
            <a:r>
              <a:rPr lang="en" sz="1100">
                <a:solidFill>
                  <a:srgbClr val="000000"/>
                </a:solidFill>
              </a:rPr>
              <a:t>[5] D. Cid, “Encrypted client hello (ECH): Impact on content filtering,” CleanBrowsing, https://cleanbrowsing.org/articles/how-encrypted-client-hello-ech-impacts-content-filtering-solutions-challenges-and-adaptations (accessed Mar. 11, 2026). </a:t>
            </a:r>
            <a:endParaRPr sz="1100">
              <a:solidFill>
                <a:srgbClr val="000000"/>
              </a:solidFill>
            </a:endParaRPr>
          </a:p>
          <a:p>
            <a:pPr indent="0" lvl="0" marL="0" rtl="0" algn="l">
              <a:spcBef>
                <a:spcPts val="1200"/>
              </a:spcBef>
              <a:spcAft>
                <a:spcPts val="0"/>
              </a:spcAft>
              <a:buNone/>
            </a:pPr>
            <a:r>
              <a:rPr lang="en" sz="1100">
                <a:solidFill>
                  <a:srgbClr val="000000"/>
                </a:solidFill>
              </a:rPr>
              <a:t>[6] “Ech Protocol,” Cloudflare Docs, https://developers.cloudflare.com/ssl/edge-certificates/ech/ (accessed Mar. 11, 2026). </a:t>
            </a:r>
            <a:endParaRPr sz="1100">
              <a:solidFill>
                <a:srgbClr val="000000"/>
              </a:solidFill>
            </a:endParaRPr>
          </a:p>
          <a:p>
            <a:pPr indent="0" lvl="0" marL="0" rtl="0" algn="l">
              <a:lnSpc>
                <a:spcPct val="100000"/>
              </a:lnSpc>
              <a:spcBef>
                <a:spcPts val="1200"/>
              </a:spcBef>
              <a:spcAft>
                <a:spcPts val="0"/>
              </a:spcAft>
              <a:buNone/>
            </a:pPr>
            <a:r>
              <a:rPr lang="en" sz="1100">
                <a:solidFill>
                  <a:srgbClr val="000000"/>
                </a:solidFill>
              </a:rPr>
              <a:t>[7] Martino Trevisan, Francesca Soro, Marco Mellia, Idilio Drago, and Ricardo Morla. 2023. Attacking DoH and ECH: Does Server Name Encryption Protect Users’ Privacy? ACM Trans. Internet Technol. 23, 1, Article 19 (February 2023), 22 pages. </a:t>
            </a:r>
            <a:r>
              <a:rPr lang="en" sz="1100" u="sng">
                <a:solidFill>
                  <a:schemeClr val="hlink"/>
                </a:solidFill>
                <a:hlinkClick r:id="rId4"/>
              </a:rPr>
              <a:t>https://doi.org/10.1145/3570726</a:t>
            </a:r>
            <a:endParaRPr sz="1100">
              <a:solidFill>
                <a:srgbClr val="000000"/>
              </a:solidFill>
            </a:endParaRPr>
          </a:p>
          <a:p>
            <a:pPr indent="0" lvl="0" marL="0" rtl="0" algn="l">
              <a:lnSpc>
                <a:spcPct val="100000"/>
              </a:lnSpc>
              <a:spcBef>
                <a:spcPts val="0"/>
              </a:spcBef>
              <a:spcAft>
                <a:spcPts val="0"/>
              </a:spcAft>
              <a:buNone/>
            </a:pPr>
            <a:r>
              <a:t/>
            </a:r>
            <a:endParaRPr sz="1100">
              <a:solidFill>
                <a:srgbClr val="000000"/>
              </a:solidFill>
            </a:endParaRPr>
          </a:p>
          <a:p>
            <a:pPr indent="0" lvl="0" marL="0" rtl="0" algn="l">
              <a:lnSpc>
                <a:spcPct val="100000"/>
              </a:lnSpc>
              <a:spcBef>
                <a:spcPts val="0"/>
              </a:spcBef>
              <a:spcAft>
                <a:spcPts val="0"/>
              </a:spcAft>
              <a:buNone/>
            </a:pPr>
            <a:r>
              <a:rPr lang="en" sz="1100">
                <a:solidFill>
                  <a:srgbClr val="000000"/>
                </a:solidFill>
              </a:rPr>
              <a:t>[8] Hongying Dong, Yizhe Zhang, Hyeonmin Lee, Shumon Huque, and Yixin Sun. 2024. Exploring the Ecosystem of DNS HTTPS Resource Records: An End-to-End Perspective. In Proceedings of the 2024 ACM on Internet Measurement Conference (IMC '24). Association for Computing Machinery, New York, NY, USA, 423–440. </a:t>
            </a:r>
            <a:endParaRPr sz="1100">
              <a:solidFill>
                <a:srgbClr val="000000"/>
              </a:solidFill>
            </a:endParaRPr>
          </a:p>
          <a:p>
            <a:pPr indent="0" lvl="0" marL="0" rtl="0" algn="l">
              <a:lnSpc>
                <a:spcPct val="100000"/>
              </a:lnSpc>
              <a:spcBef>
                <a:spcPts val="0"/>
              </a:spcBef>
              <a:spcAft>
                <a:spcPts val="0"/>
              </a:spcAft>
              <a:buNone/>
            </a:pPr>
            <a:r>
              <a:t/>
            </a:r>
            <a:endParaRPr sz="1100">
              <a:solidFill>
                <a:srgbClr val="000000"/>
              </a:solidFill>
            </a:endParaRPr>
          </a:p>
          <a:p>
            <a:pPr indent="0" lvl="0" marL="0" rtl="0" algn="l">
              <a:lnSpc>
                <a:spcPct val="100000"/>
              </a:lnSpc>
              <a:spcBef>
                <a:spcPts val="0"/>
              </a:spcBef>
              <a:spcAft>
                <a:spcPts val="0"/>
              </a:spcAft>
              <a:buNone/>
            </a:pPr>
            <a:r>
              <a:rPr lang="en" sz="1100">
                <a:solidFill>
                  <a:srgbClr val="000000"/>
                </a:solidFill>
              </a:rPr>
              <a:t>[9] N. Gul, “How to avoid web cache poisoning attacks,” Snyk, https://snyk.io/blog/how-to-avoid-web-cache-poisoning-attacks/ (accessed Mar. 11, 2026). </a:t>
            </a:r>
            <a:endParaRPr sz="1100">
              <a:solidFill>
                <a:srgbClr val="000000"/>
              </a:solidFill>
            </a:endParaRPr>
          </a:p>
          <a:p>
            <a:pPr indent="0" lvl="0" marL="0" rtl="0" algn="l">
              <a:lnSpc>
                <a:spcPct val="100000"/>
              </a:lnSpc>
              <a:spcBef>
                <a:spcPts val="0"/>
              </a:spcBef>
              <a:spcAft>
                <a:spcPts val="0"/>
              </a:spcAft>
              <a:buNone/>
            </a:pPr>
            <a:r>
              <a:t/>
            </a:r>
            <a:endParaRPr sz="1100">
              <a:solidFill>
                <a:srgbClr val="000000"/>
              </a:solidFill>
            </a:endParaRPr>
          </a:p>
          <a:p>
            <a:pPr indent="0" lvl="0" marL="0" rtl="0" algn="l">
              <a:lnSpc>
                <a:spcPct val="100000"/>
              </a:lnSpc>
              <a:spcBef>
                <a:spcPts val="0"/>
              </a:spcBef>
              <a:spcAft>
                <a:spcPts val="0"/>
              </a:spcAft>
              <a:buNone/>
            </a:pPr>
            <a:r>
              <a:t/>
            </a:r>
            <a:endParaRPr sz="1100">
              <a:solidFill>
                <a:srgbClr val="000000"/>
              </a:solidFill>
            </a:endParaRPr>
          </a:p>
          <a:p>
            <a:pPr indent="0" lvl="0" marL="0" rtl="0" algn="l">
              <a:spcBef>
                <a:spcPts val="0"/>
              </a:spcBef>
              <a:spcAft>
                <a:spcPts val="1200"/>
              </a:spcAft>
              <a:buNone/>
            </a:pPr>
            <a:r>
              <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5"/>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Questions?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6"/>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